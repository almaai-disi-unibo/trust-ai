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embeddedFontLst>
    <p:embeddedFont>
      <p:font typeface="Space Grotesk"/>
      <p:regular r:id="rId16"/>
      <p:bold r:id="rId17"/>
    </p:embeddedFont>
    <p:embeddedFont>
      <p:font typeface="JetBrains Mono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08726c3-65c3-8016-a8c8-40aaa0c794c5}">
          <p14:sldIdLst>
            <p14:sldId id="256"/>
            <p14:sldId id="257"/>
          </p14:sldIdLst>
        </p14:section>
        <p14:section name="Content" id="{29f36c71-1815-ed0b-653f-2f54f9d84468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osing" id="{d06208c0-9364-1c16-4148-e7768ac9527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7C3F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Research</c:v>
                  </c:pt>
                  <c:pt idx="1">
                    <c:v>Training</c:v>
                  </c:pt>
                  <c:pt idx="2">
                    <c:v>Policy</c:v>
                  </c:pt>
                  <c:pt idx="3">
                    <c:v>Outreach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9</c:v>
                </c:pt>
                <c:pt idx="2">
                  <c:v>6</c:v>
                </c:pt>
                <c:pt idx="3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D860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Research</c:v>
                  </c:pt>
                  <c:pt idx="1">
                    <c:v>Training</c:v>
                  </c:pt>
                  <c:pt idx="2">
                    <c:v>Policy</c:v>
                  </c:pt>
                  <c:pt idx="3">
                    <c:v>Outreach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12</c:v>
                </c:pt>
                <c:pt idx="2">
                  <c:v>10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6262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1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6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2626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tmp.CzRxgXMluS/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52704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960120" y="141732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pic>
        <p:nvPicPr>
          <p:cNvPr id="5" name="Image 1" descr="/tmp/tmp.CzRxgXMlu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  <p:sp>
        <p:nvSpPr>
          <p:cNvPr id="6" name="Text 1"/>
          <p:cNvSpPr/>
          <p:nvPr>
            <p:ph idx="104" type="title" hasCustomPrompt="1"/>
          </p:nvPr>
        </p:nvSpPr>
        <p:spPr>
          <a:xfrm>
            <a:off x="548640" y="1874520"/>
            <a:ext cx="71323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5000"/>
              </a:lnSpc>
              <a:buNone/>
              <a:defRPr lang="en-US" sz="5400" b="1" spc="-1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85000"/>
              </a:lnSpc>
              <a:buNone/>
            </a:pPr>
            <a:r>
              <a:rPr lang="en-US" sz="5400" b="1" spc="-150" kern="0" dirty="0">
                <a:solidFill>
                  <a:schemeClr val="tx1"/>
                </a:solidFill>
              </a:rPr>
              <a:t>PRESENTATION TITLE</a:t>
            </a:r>
            <a:endParaRPr lang="en-US" sz="5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Subtitle or one-line summary</a:t>
            </a:r>
            <a:endParaRPr lang="en-US" sz="1600" dirty="0"/>
          </a:p>
        </p:txBody>
      </p:sp>
      <p:sp>
        <p:nvSpPr>
          <p:cNvPr id="8" name="Text 1"/>
          <p:cNvSpPr/>
          <p:nvPr>
            <p:ph idx="106" type="body" hasCustomPrompt="1"/>
          </p:nvPr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200" kern="0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indent="0" marL="0">
              <a:buNone/>
            </a:pPr>
            <a:r>
              <a:rPr lang="en-US" sz="1000" spc="200" kern="0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· EVENT · DATE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tmp.CzRxgXMluS/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3657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600" b="1" spc="-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en-US" sz="9600" b="1" spc="-300" kern="0" dirty="0">
                <a:solidFill>
                  <a:schemeClr val="accent1"/>
                </a:solidFill>
              </a:rPr>
              <a:t>01</a:t>
            </a:r>
            <a:endParaRPr lang="en-US" sz="9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spc="-1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SECTION TITLE</a:t>
            </a: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858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Optional one-line description</a:t>
            </a:r>
            <a:endParaRPr lang="en-US" sz="1600" dirty="0"/>
          </a:p>
        </p:txBody>
      </p:sp>
      <p:pic>
        <p:nvPicPr>
          <p:cNvPr id="6" name="Image 1" descr="/tmp/tmp.CzRxgXMlu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2120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Body text</a:t>
            </a:r>
            <a:endParaRPr lang="en-US" sz="1600" dirty="0"/>
          </a:p>
        </p:txBody>
      </p:sp>
      <p:pic>
        <p:nvPicPr>
          <p:cNvPr id="6" name="Image 0" descr="/tmp/tmp.CzRxgXMlu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2120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828800"/>
            <a:ext cx="5272888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Left column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370168" y="1828800"/>
            <a:ext cx="5272888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Right column</a:t>
            </a:r>
            <a:endParaRPr lang="en-US" sz="1600" dirty="0"/>
          </a:p>
        </p:txBody>
      </p:sp>
      <p:pic>
        <p:nvPicPr>
          <p:cNvPr id="7" name="Image 0" descr="/tmp/tmp.CzRxgXMlu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21208"/>
            <a:ext cx="292608" cy="274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LABEL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pic>
        <p:nvPicPr>
          <p:cNvPr id="5" name="Image 0" descr="/tmp/tmp.CzRxgXMlu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chemeClr val="tx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005840" cy="1005840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3" name="Image 0" descr="/tmp/tmp.CzRxgXMlu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786384" cy="786384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834640"/>
            <a:ext cx="9144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spc="-150" kern="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spc="-150" kern="0" dirty="0">
                <a:solidFill>
                  <a:schemeClr val="bg2"/>
                </a:solidFill>
              </a:rPr>
              <a:t>THANK YOU</a:t>
            </a:r>
            <a:endParaRPr lang="en-US" sz="5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4114800"/>
            <a:ext cx="8229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400"/>
              </a:spcAft>
              <a:buNone/>
              <a:def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contact@example.org</a:t>
            </a:r>
            <a:endParaRPr lang="en-US" sz="1200" dirty="0"/>
          </a:p>
        </p:txBody>
      </p:sp>
      <p:pic>
        <p:nvPicPr>
          <p:cNvPr id="6" name="Image 1" descr="/tmp/tmp.CzRxgXMlu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96112" y="6327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chemeClr val="bg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TRUST-AI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6EF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960120" y="1417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INTERNATIONAL JOINT INITIATIVE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548640" y="1874520"/>
            <a:ext cx="7132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400" b="1" spc="-150" kern="0" dirty="0">
                <a:solidFill>
                  <a:schemeClr val="tx1"/>
                </a:solidFill>
              </a:rPr>
              <a:t>TRUSTED AI</a:t>
            </a:r>
            <a:pPr algn="l" indent="0" marL="0">
              <a:lnSpc>
                <a:spcPct val="85000"/>
              </a:lnSpc>
              <a:buNone/>
            </a:pPr>
            <a:r>
              <a:rPr lang="en-US" sz="5400" b="1" spc="-150" kern="0" dirty="0">
                <a:solidFill>
                  <a:schemeClr val="accent2"/>
                </a:solidFill>
              </a:rPr>
              <a:t>.</a:t>
            </a:r>
            <a:endParaRPr lang="en-US" sz="54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Advancing AI that is trustworthy, inclusive, sustainable and compliant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6" type="body" hasCustomPrompt="1"/>
          </p:nvPr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tx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SURNAME · EVENT NAME · DATE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What we will cover</a:t>
            </a:r>
            <a:endParaRPr lang="en-US" sz="3200" dirty="0"/>
          </a:p>
        </p:txBody>
      </p:sp>
      <p:sp>
        <p:nvSpPr>
          <p:cNvPr id="4" name="agenda-num-1"/>
          <p:cNvSpPr txBox="1"/>
          <p:nvPr/>
        </p:nvSpPr>
        <p:spPr>
          <a:xfrm>
            <a:off x="548640" y="1874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agenda-item-1"/>
          <p:cNvSpPr txBox="1"/>
          <p:nvPr/>
        </p:nvSpPr>
        <p:spPr>
          <a:xfrm>
            <a:off x="1371600" y="1874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Context and motivation</a:t>
            </a:r>
            <a:endParaRPr lang="en-US" sz="2200" dirty="0"/>
          </a:p>
        </p:txBody>
      </p:sp>
      <p:sp>
        <p:nvSpPr>
          <p:cNvPr id="6" name="agenda-rule-1"/>
          <p:cNvSpPr/>
          <p:nvPr/>
        </p:nvSpPr>
        <p:spPr>
          <a:xfrm>
            <a:off x="548640" y="262432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</p:sp>
      <p:sp>
        <p:nvSpPr>
          <p:cNvPr id="7" name="agenda-num-2"/>
          <p:cNvSpPr txBox="1"/>
          <p:nvPr/>
        </p:nvSpPr>
        <p:spPr>
          <a:xfrm>
            <a:off x="548640" y="2834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agenda-item-2"/>
          <p:cNvSpPr txBox="1"/>
          <p:nvPr/>
        </p:nvSpPr>
        <p:spPr>
          <a:xfrm>
            <a:off x="1371600" y="2834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The five TRUST pillars</a:t>
            </a:r>
            <a:endParaRPr lang="en-US" sz="2200" dirty="0"/>
          </a:p>
        </p:txBody>
      </p:sp>
      <p:sp>
        <p:nvSpPr>
          <p:cNvPr id="9" name="agenda-rule-2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</p:sp>
      <p:sp>
        <p:nvSpPr>
          <p:cNvPr id="10" name="agenda-num-3"/>
          <p:cNvSpPr txBox="1"/>
          <p:nvPr/>
        </p:nvSpPr>
        <p:spPr>
          <a:xfrm>
            <a:off x="548640" y="37947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agenda-item-3"/>
          <p:cNvSpPr txBox="1"/>
          <p:nvPr/>
        </p:nvSpPr>
        <p:spPr>
          <a:xfrm>
            <a:off x="13716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Results so far</a:t>
            </a:r>
            <a:endParaRPr lang="en-US" sz="2200" dirty="0"/>
          </a:p>
        </p:txBody>
      </p:sp>
      <p:sp>
        <p:nvSpPr>
          <p:cNvPr id="12" name="agenda-rule-3"/>
          <p:cNvSpPr/>
          <p:nvPr/>
        </p:nvSpPr>
        <p:spPr>
          <a:xfrm>
            <a:off x="548640" y="454456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</p:sp>
      <p:sp>
        <p:nvSpPr>
          <p:cNvPr id="13" name="agenda-num-4"/>
          <p:cNvSpPr txBox="1"/>
          <p:nvPr/>
        </p:nvSpPr>
        <p:spPr>
          <a:xfrm>
            <a:off x="548640" y="4754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agenda-item-4"/>
          <p:cNvSpPr txBox="1"/>
          <p:nvPr/>
        </p:nvSpPr>
        <p:spPr>
          <a:xfrm>
            <a:off x="1371600" y="4754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Next steps</a:t>
            </a:r>
            <a:endParaRPr lang="en-US" sz="2200" dirty="0"/>
          </a:p>
        </p:txBody>
      </p:sp>
      <p:sp>
        <p:nvSpPr>
          <p:cNvPr id="15" name="agenda-rule-4"/>
          <p:cNvSpPr/>
          <p:nvPr/>
        </p:nvSpPr>
        <p:spPr>
          <a:xfrm>
            <a:off x="548640" y="5504688"/>
            <a:ext cx="11094415" cy="0"/>
          </a:xfrm>
          <a:prstGeom prst="line">
            <a:avLst/>
          </a:prstGeom>
          <a:noFill/>
          <a:ln w="9525">
            <a:solidFill>
              <a:srgbClr val="E6E1D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5544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spc="-300" kern="0" dirty="0">
                <a:solidFill>
                  <a:schemeClr val="accent1"/>
                </a:solidFill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chemeClr val="tx1"/>
                </a:solidFill>
              </a:rPr>
              <a:t>THE FIVE PILLARS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How TRUST-AI frames trustworthy 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A content slide with a title and bullets</a:t>
            </a:r>
            <a:endParaRPr lang="en-US" sz="3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Keep one message per slide; the title states 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Body text is 16 pt Space Grotesk on white, like the site’s pages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eyebrow above the title is optional: delete it or leave it empty</a:t>
            </a:r>
            <a:endParaRPr lang="en-US" sz="16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Second-level points work too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Two columns for side-by-side content</a:t>
            </a:r>
            <a:endParaRPr lang="en-US" sz="3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1828800"/>
            <a:ext cx="527288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Today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Fragmented guidance across sectors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Compliance treated as an afterthought</a:t>
            </a:r>
            <a:endParaRPr lang="en-US" sz="1600" dirty="0"/>
          </a:p>
        </p:txBody>
      </p:sp>
      <p:sp>
        <p:nvSpPr>
          <p:cNvPr id="5" name="Text 1"/>
          <p:cNvSpPr/>
          <p:nvPr>
            <p:ph idx="104" type="body" hasCustomPrompt="1"/>
          </p:nvPr>
        </p:nvSpPr>
        <p:spPr>
          <a:xfrm>
            <a:off x="6370168" y="1828800"/>
            <a:ext cx="527288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With TRUST-AI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Shared methods from design to deployment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Governance built in from the start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PILLARS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Cards with a hard shadow, as on the website</a:t>
            </a:r>
            <a:endParaRPr lang="en-US" sz="3200" dirty="0"/>
          </a:p>
        </p:txBody>
      </p:sp>
      <p:sp>
        <p:nvSpPr>
          <p:cNvPr id="4" name="pillar-card-1-shadow"/>
          <p:cNvSpPr/>
          <p:nvPr/>
        </p:nvSpPr>
        <p:spPr>
          <a:xfrm>
            <a:off x="612648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5" name="pillar-card-1"/>
          <p:cNvSpPr/>
          <p:nvPr/>
        </p:nvSpPr>
        <p:spPr>
          <a:xfrm>
            <a:off x="548640" y="1965960"/>
            <a:ext cx="1986625" cy="3566160"/>
          </a:xfrm>
          <a:prstGeom prst="rect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pillar-letter-1"/>
          <p:cNvSpPr txBox="1"/>
          <p:nvPr/>
        </p:nvSpPr>
        <p:spPr>
          <a:xfrm>
            <a:off x="777240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T</a:t>
            </a:r>
            <a:endParaRPr lang="en-US" sz="6000" dirty="0"/>
          </a:p>
        </p:txBody>
      </p:sp>
      <p:sp>
        <p:nvSpPr>
          <p:cNvPr id="7" name="pillar-label-1"/>
          <p:cNvSpPr txBox="1"/>
          <p:nvPr/>
        </p:nvSpPr>
        <p:spPr>
          <a:xfrm>
            <a:off x="777240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TRUST-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WORTHINESS</a:t>
            </a:r>
            <a:endParaRPr lang="en-US" sz="1400" dirty="0"/>
          </a:p>
        </p:txBody>
      </p:sp>
      <p:sp>
        <p:nvSpPr>
          <p:cNvPr id="8" name="pillar-card-2-shadow"/>
          <p:cNvSpPr/>
          <p:nvPr/>
        </p:nvSpPr>
        <p:spPr>
          <a:xfrm>
            <a:off x="2873593" y="2029968"/>
            <a:ext cx="1986625" cy="35661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pillar-card-2"/>
          <p:cNvSpPr/>
          <p:nvPr/>
        </p:nvSpPr>
        <p:spPr>
          <a:xfrm>
            <a:off x="2809585" y="1965960"/>
            <a:ext cx="1986625" cy="3566160"/>
          </a:xfrm>
          <a:prstGeom prst="rect">
            <a:avLst/>
          </a:prstGeom>
          <a:solidFill>
            <a:schemeClr val="tx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pillar-letter-2"/>
          <p:cNvSpPr txBox="1"/>
          <p:nvPr/>
        </p:nvSpPr>
        <p:spPr>
          <a:xfrm>
            <a:off x="3038185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</a:rPr>
              <a:t>R</a:t>
            </a:r>
            <a:endParaRPr lang="en-US" sz="6000" dirty="0"/>
          </a:p>
        </p:txBody>
      </p:sp>
      <p:sp>
        <p:nvSpPr>
          <p:cNvPr id="11" name="pillar-label-2"/>
          <p:cNvSpPr txBox="1"/>
          <p:nvPr/>
        </p:nvSpPr>
        <p:spPr>
          <a:xfrm>
            <a:off x="3038185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RESPONSIBLE GOVERNANCE</a:t>
            </a:r>
            <a:endParaRPr lang="en-US" sz="1400" dirty="0"/>
          </a:p>
        </p:txBody>
      </p:sp>
      <p:sp>
        <p:nvSpPr>
          <p:cNvPr id="12" name="pillar-card-3-shadow"/>
          <p:cNvSpPr/>
          <p:nvPr/>
        </p:nvSpPr>
        <p:spPr>
          <a:xfrm>
            <a:off x="5134539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3" name="pillar-card-3"/>
          <p:cNvSpPr/>
          <p:nvPr/>
        </p:nvSpPr>
        <p:spPr>
          <a:xfrm>
            <a:off x="5070531" y="1965960"/>
            <a:ext cx="1986625" cy="356616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pillar-letter-3"/>
          <p:cNvSpPr txBox="1"/>
          <p:nvPr/>
        </p:nvSpPr>
        <p:spPr>
          <a:xfrm>
            <a:off x="5299131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U</a:t>
            </a:r>
            <a:endParaRPr lang="en-US" sz="6000" dirty="0"/>
          </a:p>
        </p:txBody>
      </p:sp>
      <p:sp>
        <p:nvSpPr>
          <p:cNvPr id="15" name="pillar-label-3"/>
          <p:cNvSpPr txBox="1"/>
          <p:nvPr/>
        </p:nvSpPr>
        <p:spPr>
          <a:xfrm>
            <a:off x="5299131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UNIVERSAL RIGHTS &amp; INCLUSIVE DESIGN</a:t>
            </a:r>
            <a:endParaRPr lang="en-US" sz="1400" dirty="0"/>
          </a:p>
        </p:txBody>
      </p:sp>
      <p:sp>
        <p:nvSpPr>
          <p:cNvPr id="16" name="pillar-card-4-shadow"/>
          <p:cNvSpPr/>
          <p:nvPr/>
        </p:nvSpPr>
        <p:spPr>
          <a:xfrm>
            <a:off x="7395484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7" name="pillar-card-4"/>
          <p:cNvSpPr/>
          <p:nvPr/>
        </p:nvSpPr>
        <p:spPr>
          <a:xfrm>
            <a:off x="7331476" y="1965960"/>
            <a:ext cx="1986625" cy="3566160"/>
          </a:xfrm>
          <a:prstGeom prst="rect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8" name="pillar-letter-4"/>
          <p:cNvSpPr txBox="1"/>
          <p:nvPr/>
        </p:nvSpPr>
        <p:spPr>
          <a:xfrm>
            <a:off x="7560076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S</a:t>
            </a:r>
            <a:endParaRPr lang="en-US" sz="6000" dirty="0"/>
          </a:p>
        </p:txBody>
      </p:sp>
      <p:sp>
        <p:nvSpPr>
          <p:cNvPr id="19" name="pillar-label-4"/>
          <p:cNvSpPr txBox="1"/>
          <p:nvPr/>
        </p:nvSpPr>
        <p:spPr>
          <a:xfrm>
            <a:off x="7560076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SOCIETAL &amp; SUSTAINABLE IMPACT</a:t>
            </a:r>
            <a:endParaRPr lang="en-US" sz="1400" dirty="0"/>
          </a:p>
        </p:txBody>
      </p:sp>
      <p:sp>
        <p:nvSpPr>
          <p:cNvPr id="20" name="pillar-card-5-shadow"/>
          <p:cNvSpPr/>
          <p:nvPr/>
        </p:nvSpPr>
        <p:spPr>
          <a:xfrm>
            <a:off x="9656430" y="2029968"/>
            <a:ext cx="1986625" cy="35661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21" name="pillar-card-5"/>
          <p:cNvSpPr/>
          <p:nvPr/>
        </p:nvSpPr>
        <p:spPr>
          <a:xfrm>
            <a:off x="9592422" y="1965960"/>
            <a:ext cx="1986625" cy="356616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2" name="pillar-letter-5"/>
          <p:cNvSpPr txBox="1"/>
          <p:nvPr/>
        </p:nvSpPr>
        <p:spPr>
          <a:xfrm>
            <a:off x="9821022" y="214884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T</a:t>
            </a:r>
            <a:endParaRPr lang="en-US" sz="6000" dirty="0"/>
          </a:p>
        </p:txBody>
      </p:sp>
      <p:sp>
        <p:nvSpPr>
          <p:cNvPr id="23" name="pillar-label-5"/>
          <p:cNvSpPr txBox="1"/>
          <p:nvPr/>
        </p:nvSpPr>
        <p:spPr>
          <a:xfrm>
            <a:off x="9821022" y="4297680"/>
            <a:ext cx="15294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TRANSPARENCY &amp; COMPLIANCE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 FIGURES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Three numbers worth remembering</a:t>
            </a:r>
            <a:endParaRPr lang="en-US" sz="3200" dirty="0"/>
          </a:p>
        </p:txBody>
      </p:sp>
      <p:sp>
        <p:nvSpPr>
          <p:cNvPr id="4" name="stat-card-1-shadow"/>
          <p:cNvSpPr/>
          <p:nvPr/>
        </p:nvSpPr>
        <p:spPr>
          <a:xfrm>
            <a:off x="612648" y="2258568"/>
            <a:ext cx="3372002" cy="23774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5" name="stat-card-1"/>
          <p:cNvSpPr/>
          <p:nvPr/>
        </p:nvSpPr>
        <p:spPr>
          <a:xfrm>
            <a:off x="548640" y="2194560"/>
            <a:ext cx="3372002" cy="23774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6" name="stat-value-1"/>
          <p:cNvSpPr txBox="1"/>
          <p:nvPr/>
        </p:nvSpPr>
        <p:spPr>
          <a:xfrm>
            <a:off x="868680" y="2468880"/>
            <a:ext cx="273192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12</a:t>
            </a:r>
            <a:endParaRPr lang="en-US" sz="6600" dirty="0"/>
          </a:p>
        </p:txBody>
      </p:sp>
      <p:sp>
        <p:nvSpPr>
          <p:cNvPr id="7" name="stat-label-1"/>
          <p:cNvSpPr txBox="1"/>
          <p:nvPr/>
        </p:nvSpPr>
        <p:spPr>
          <a:xfrm>
            <a:off x="868680" y="3794760"/>
            <a:ext cx="2731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PARTNER INSTITUTIONS</a:t>
            </a:r>
            <a:endParaRPr lang="en-US" sz="1100" dirty="0"/>
          </a:p>
        </p:txBody>
      </p:sp>
      <p:sp>
        <p:nvSpPr>
          <p:cNvPr id="8" name="stat-card-2-shadow"/>
          <p:cNvSpPr/>
          <p:nvPr/>
        </p:nvSpPr>
        <p:spPr>
          <a:xfrm>
            <a:off x="4441850" y="2258568"/>
            <a:ext cx="3372002" cy="2377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tat-card-2"/>
          <p:cNvSpPr/>
          <p:nvPr/>
        </p:nvSpPr>
        <p:spPr>
          <a:xfrm>
            <a:off x="4377842" y="2194560"/>
            <a:ext cx="3372002" cy="23774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4697882" y="2468880"/>
            <a:ext cx="273192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5</a:t>
            </a:r>
            <a:endParaRPr lang="en-US" sz="6600" dirty="0"/>
          </a:p>
        </p:txBody>
      </p:sp>
      <p:sp>
        <p:nvSpPr>
          <p:cNvPr id="11" name="stat-label-2"/>
          <p:cNvSpPr txBox="1"/>
          <p:nvPr/>
        </p:nvSpPr>
        <p:spPr>
          <a:xfrm>
            <a:off x="4697882" y="3794760"/>
            <a:ext cx="2731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RESEARCH PILLARS</a:t>
            </a:r>
            <a:endParaRPr lang="en-US" sz="1100" dirty="0"/>
          </a:p>
        </p:txBody>
      </p:sp>
      <p:sp>
        <p:nvSpPr>
          <p:cNvPr id="12" name="stat-card-3-shadow"/>
          <p:cNvSpPr/>
          <p:nvPr/>
        </p:nvSpPr>
        <p:spPr>
          <a:xfrm>
            <a:off x="8271053" y="2258568"/>
            <a:ext cx="3372002" cy="23774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3" name="stat-card-3"/>
          <p:cNvSpPr/>
          <p:nvPr/>
        </p:nvSpPr>
        <p:spPr>
          <a:xfrm>
            <a:off x="8207045" y="2194560"/>
            <a:ext cx="3372002" cy="237744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stat-value-3"/>
          <p:cNvSpPr txBox="1"/>
          <p:nvPr/>
        </p:nvSpPr>
        <p:spPr>
          <a:xfrm>
            <a:off x="8527085" y="2468880"/>
            <a:ext cx="273192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30+</a:t>
            </a:r>
            <a:endParaRPr lang="en-US" sz="6600" dirty="0"/>
          </a:p>
        </p:txBody>
      </p:sp>
      <p:sp>
        <p:nvSpPr>
          <p:cNvPr id="15" name="stat-label-3"/>
          <p:cNvSpPr txBox="1"/>
          <p:nvPr/>
        </p:nvSpPr>
        <p:spPr>
          <a:xfrm>
            <a:off x="8527085" y="3794760"/>
            <a:ext cx="27319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EVENTS PLANNED FOR 2027</a:t>
            </a:r>
            <a:endParaRPr lang="en-US" sz="1100" dirty="0"/>
          </a:p>
        </p:txBody>
      </p:sp>
      <p:sp>
        <p:nvSpPr>
          <p:cNvPr id="16" name="stat-note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Placeholder figures, replace with real ones.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6012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chemeClr val="tx1"/>
                </a:solidFill>
              </a:rPr>
              <a:t>Native charts in the site palette</a:t>
            </a:r>
            <a:endParaRPr lang="en-US" sz="3200" dirty="0"/>
          </a:p>
        </p:txBody>
      </p:sp>
      <p:graphicFrame>
        <p:nvGraphicFramePr>
          <p:cNvPr id="4" name="example-chart" descr=""/>
          <p:cNvGraphicFramePr/>
          <p:nvPr/>
        </p:nvGraphicFramePr>
        <p:xfrm>
          <a:off x="548640" y="18288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666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8346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spc="-150" kern="0" dirty="0">
                <a:solidFill>
                  <a:schemeClr val="bg2"/>
                </a:solidFill>
              </a:rPr>
              <a:t>THANK YOU.</a:t>
            </a:r>
            <a:endParaRPr lang="en-US" sz="5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41148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name.surname@example.org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trust-ai.example.org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27648"/>
            <a:ext cx="54864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6EF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UST-AI">
  <a:themeElements>
    <a:clrScheme name="TRUST-AI">
      <a:dk1>
        <a:srgbClr val="262628"/>
      </a:dk1>
      <a:lt1>
        <a:srgbClr val="FFFFFF"/>
      </a:lt1>
      <a:dk2>
        <a:srgbClr val="6B6668"/>
      </a:dk2>
      <a:lt2>
        <a:srgbClr val="FFF6EF"/>
      </a:lt2>
      <a:accent1>
        <a:srgbClr val="C7C3F2"/>
      </a:accent1>
      <a:accent2>
        <a:srgbClr val="D86072"/>
      </a:accent2>
      <a:accent3>
        <a:srgbClr val="D6DC82"/>
      </a:accent3>
      <a:accent4>
        <a:srgbClr val="5B54B0"/>
      </a:accent4>
      <a:accent5>
        <a:srgbClr val="F7EBE1"/>
      </a:accent5>
      <a:accent6>
        <a:srgbClr val="8E89D6"/>
      </a:accent6>
      <a:hlink>
        <a:srgbClr val="5B54B0"/>
      </a:hlink>
      <a:folHlink>
        <a:srgbClr val="D86072"/>
      </a:folHlink>
    </a:clrScheme>
    <a:fontScheme name="TRUST-AI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ace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TRUST-AI presentation template</dc:title>
  <dc:subject>PptxGenJS Presentation</dc:subject>
  <dc:creator>TRUST-AI</dc:creator>
  <cp:lastModifiedBy>TRUST-AI</cp:lastModifiedBy>
  <cp:revision>1</cp:revision>
  <dcterms:created xsi:type="dcterms:W3CDTF">2026-10-26T08:29:51Z</dcterms:created>
  <dcterms:modified xsi:type="dcterms:W3CDTF">2026-10-26T08:29:51Z</dcterms:modified>
</cp:coreProperties>
</file>