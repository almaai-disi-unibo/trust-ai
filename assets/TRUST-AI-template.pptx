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JetBrains Mono" panose="02000009000000000000" pitchFamily="49" charset="0"/>
      <p:regular r:id="rId12"/>
    </p:embeddedFont>
    <p:embeddedFont>
      <p:font typeface="Space Grotesk" pitchFamily="2" charset="77"/>
      <p:regular r:id="rId13"/>
      <p:bold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08726C3-65C3-8016-A8C8-40AAA0C794C5}">
          <p14:sldIdLst>
            <p14:sldId id="256"/>
            <p14:sldId id="257"/>
          </p14:sldIdLst>
        </p14:section>
        <p14:section name="Content" id="{29F36C71-1815-ED0B-653F-2F54F9D84468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osing" id="{D06208C0-9364-1C16-4148-E7768AC9527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2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7C3F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62628"/>
                    </a:solidFill>
                    <a:latin typeface="+mn-lt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Training</c:v>
                </c:pt>
                <c:pt idx="2">
                  <c:v>Policy</c:v>
                </c:pt>
                <c:pt idx="3">
                  <c:v>Outreach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9</c:v>
                </c:pt>
                <c:pt idx="2">
                  <c:v>6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4-CE44-AFD5-A90B171C4B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D8607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62628"/>
                    </a:solidFill>
                    <a:latin typeface="+mn-lt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Research</c:v>
                </c:pt>
                <c:pt idx="1">
                  <c:v>Training</c:v>
                </c:pt>
                <c:pt idx="2">
                  <c:v>Policy</c:v>
                </c:pt>
                <c:pt idx="3">
                  <c:v>Outreach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12</c:v>
                </c:pt>
                <c:pt idx="2">
                  <c:v>10</c:v>
                </c:pt>
                <c:pt idx="3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4-CE44-AFD5-A90B171C4B6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626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1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2626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5607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tmp.CzRxgXMluS/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52704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960120" y="141732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pic>
        <p:nvPicPr>
          <p:cNvPr id="5" name="Image 1" descr="/tmp/tmp.CzRxgXMlu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  <p:sp>
        <p:nvSpPr>
          <p:cNvPr id="6" name="Text 1"/>
          <p:cNvSpPr>
            <a:spLocks noGrp="1"/>
          </p:cNvSpPr>
          <p:nvPr>
            <p:ph type="title" idx="104" hasCustomPrompt="1"/>
          </p:nvPr>
        </p:nvSpPr>
        <p:spPr>
          <a:xfrm>
            <a:off x="548640" y="1874520"/>
            <a:ext cx="71323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lnSpc>
                <a:spcPct val="85000"/>
              </a:lnSpc>
              <a:buNone/>
              <a:defRPr lang="en-US" sz="5400" b="1" kern="0" spc="-150" dirty="0">
                <a:solidFill>
                  <a:schemeClr val="tx1"/>
                </a:solidFill>
              </a:defRPr>
            </a:lvl1pPr>
          </a:lstStyle>
          <a:p>
            <a:pPr marL="0" indent="0" algn="l">
              <a:lnSpc>
                <a:spcPct val="85000"/>
              </a:lnSpc>
              <a:buNone/>
            </a:pPr>
            <a:r>
              <a:rPr lang="en-US" sz="5400" b="1" kern="0" spc="-150" dirty="0">
                <a:solidFill>
                  <a:schemeClr val="tx1"/>
                </a:solidFill>
              </a:rPr>
              <a:t>PRESENTATION TITLE</a:t>
            </a:r>
            <a:endParaRPr lang="en-US" sz="54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Subtitle or one-line summary</a:t>
            </a:r>
            <a:endParaRPr lang="en-US" sz="1600" dirty="0"/>
          </a:p>
        </p:txBody>
      </p:sp>
      <p:sp>
        <p:nvSpPr>
          <p:cNvPr id="8" name="Text 1"/>
          <p:cNvSpPr>
            <a:spLocks noGrp="1"/>
          </p:cNvSpPr>
          <p:nvPr>
            <p:ph type="body" idx="106" hasCustomPrompt="1"/>
          </p:nvPr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kern="0" spc="200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>
              <a:buNone/>
            </a:pPr>
            <a:r>
              <a:rPr lang="en-US" sz="1000" kern="0" spc="200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· EVENT · DATE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tmp.CzRxgXMluS/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554480"/>
            <a:ext cx="3657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600" b="1" kern="0" spc="-3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9600" b="1" kern="0" spc="-300" dirty="0">
                <a:solidFill>
                  <a:schemeClr val="accent1"/>
                </a:solidFill>
              </a:rPr>
              <a:t>01</a:t>
            </a:r>
            <a:endParaRPr lang="en-US" sz="9600" dirty="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kern="0" spc="-1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 b="1" kern="0" spc="-100" dirty="0">
                <a:solidFill>
                  <a:schemeClr val="tx1"/>
                </a:solidFill>
              </a:rPr>
              <a:t>SECTION TITLE</a:t>
            </a:r>
            <a:endParaRPr lang="en-US" sz="4000" dirty="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4480560"/>
            <a:ext cx="6858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Optional one-line description</a:t>
            </a:r>
            <a:endParaRPr lang="en-US" sz="1600" dirty="0"/>
          </a:p>
        </p:txBody>
      </p:sp>
      <p:pic>
        <p:nvPicPr>
          <p:cNvPr id="6" name="Image 1" descr="/tmp/tmp.CzRxgXMluS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2120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kern="0" spc="-5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Body text</a:t>
            </a:r>
            <a:endParaRPr lang="en-US" sz="1600" dirty="0"/>
          </a:p>
        </p:txBody>
      </p:sp>
      <p:pic>
        <p:nvPicPr>
          <p:cNvPr id="6" name="Image 0" descr="/tmp/tmp.CzRxgXMluS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2120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kern="0" spc="-5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640" y="1828800"/>
            <a:ext cx="5272888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Left column</a:t>
            </a:r>
            <a:endParaRPr lang="en-US" sz="1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370168" y="1828800"/>
            <a:ext cx="5272888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Right column</a:t>
            </a:r>
            <a:endParaRPr lang="en-US" sz="1600" dirty="0"/>
          </a:p>
        </p:txBody>
      </p:sp>
      <p:pic>
        <p:nvPicPr>
          <p:cNvPr id="7" name="Image 0" descr="/tmp/tmp.CzRxgXMluS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2120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kern="0" spc="-5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pic>
        <p:nvPicPr>
          <p:cNvPr id="5" name="Image 0" descr="/tmp/tmp.CzRxgXMluS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005840" cy="1005840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3" name="Image 0" descr="/tmp/tmp.CzRxgXMluS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786384" cy="786384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834640"/>
            <a:ext cx="9144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kern="0" spc="-15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r>
              <a:rPr lang="en-US" sz="5400" b="1" kern="0" spc="-150" dirty="0">
                <a:solidFill>
                  <a:schemeClr val="bg2"/>
                </a:solidFill>
              </a:rPr>
              <a:t>THANK YOU</a:t>
            </a:r>
            <a:endParaRPr lang="en-US" sz="5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640" y="4114800"/>
            <a:ext cx="8229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spcAft>
                <a:spcPts val="400"/>
              </a:spcAft>
              <a:buNone/>
              <a:def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contact@example.org</a:t>
            </a:r>
            <a:endParaRPr lang="en-US" sz="1200" dirty="0"/>
          </a:p>
        </p:txBody>
      </p:sp>
      <p:pic>
        <p:nvPicPr>
          <p:cNvPr id="6" name="Image 1" descr="/tmp/tmp.CzRxgXMluS/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chemeClr val="bg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FFF6EF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2" hasCustomPrompt="1"/>
          </p:nvPr>
        </p:nvSpPr>
        <p:spPr>
          <a:xfrm>
            <a:off x="960120" y="1417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INTERNATIONAL JOINT INITIATIVE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48640" y="1874520"/>
            <a:ext cx="7132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5400" b="1" kern="0" spc="-150" dirty="0">
                <a:solidFill>
                  <a:schemeClr val="tx1"/>
                </a:solidFill>
              </a:rPr>
              <a:t>TRUST AI</a:t>
            </a:r>
            <a:r>
              <a:rPr lang="en-US" sz="5400" b="1" kern="0" spc="-150" dirty="0">
                <a:solidFill>
                  <a:schemeClr val="accent2"/>
                </a:solidFill>
              </a:rPr>
              <a:t>.</a:t>
            </a:r>
            <a:br>
              <a:rPr lang="en-US" sz="5400" b="1" kern="0" spc="-150" dirty="0">
                <a:solidFill>
                  <a:schemeClr val="accent2"/>
                </a:solidFill>
              </a:rPr>
            </a:br>
            <a:r>
              <a:rPr lang="it-IT" sz="3400" dirty="0"/>
              <a:t>DESIGN AND BUILD AI WE CAN TRUST.</a:t>
            </a:r>
            <a:endParaRPr lang="en-US" sz="3400" dirty="0"/>
          </a:p>
        </p:txBody>
      </p:sp>
      <p:sp>
        <p:nvSpPr>
          <p:cNvPr id="4" name="Text 1"/>
          <p:cNvSpPr>
            <a:spLocks noGrp="1"/>
          </p:cNvSpPr>
          <p:nvPr>
            <p:ph type="body" idx="105" hasCustomPrompt="1"/>
          </p:nvPr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Advancing AI that is trustworthy, inclusive, sustainable and compliant</a:t>
            </a:r>
            <a:endParaRPr lang="en-US" sz="1600" dirty="0"/>
          </a:p>
        </p:txBody>
      </p:sp>
      <p:sp>
        <p:nvSpPr>
          <p:cNvPr id="5" name="Text 1"/>
          <p:cNvSpPr>
            <a:spLocks noGrp="1"/>
          </p:cNvSpPr>
          <p:nvPr>
            <p:ph type="body" idx="106" hasCustomPrompt="1"/>
          </p:nvPr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kern="0" spc="200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SURNAME · EVENT NAME · DATE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What we will cover</a:t>
            </a:r>
            <a:endParaRPr lang="en-US" sz="3200" dirty="0"/>
          </a:p>
        </p:txBody>
      </p:sp>
      <p:sp>
        <p:nvSpPr>
          <p:cNvPr id="4" name="agenda-num-1"/>
          <p:cNvSpPr txBox="1"/>
          <p:nvPr/>
        </p:nvSpPr>
        <p:spPr>
          <a:xfrm>
            <a:off x="548640" y="1874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agenda-item-1"/>
          <p:cNvSpPr txBox="1"/>
          <p:nvPr/>
        </p:nvSpPr>
        <p:spPr>
          <a:xfrm>
            <a:off x="1371600" y="1874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Context and motivation</a:t>
            </a:r>
            <a:endParaRPr lang="en-US" sz="2200" dirty="0"/>
          </a:p>
        </p:txBody>
      </p:sp>
      <p:sp>
        <p:nvSpPr>
          <p:cNvPr id="6" name="agenda-rule-1"/>
          <p:cNvSpPr/>
          <p:nvPr/>
        </p:nvSpPr>
        <p:spPr>
          <a:xfrm>
            <a:off x="548640" y="262432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agenda-num-2"/>
          <p:cNvSpPr txBox="1"/>
          <p:nvPr/>
        </p:nvSpPr>
        <p:spPr>
          <a:xfrm>
            <a:off x="548640" y="2834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agenda-item-2"/>
          <p:cNvSpPr txBox="1"/>
          <p:nvPr/>
        </p:nvSpPr>
        <p:spPr>
          <a:xfrm>
            <a:off x="1371600" y="2834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The five TRUST pillars</a:t>
            </a:r>
            <a:endParaRPr lang="en-US" sz="2200" dirty="0"/>
          </a:p>
        </p:txBody>
      </p:sp>
      <p:sp>
        <p:nvSpPr>
          <p:cNvPr id="9" name="agenda-rule-2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agenda-num-3"/>
          <p:cNvSpPr txBox="1"/>
          <p:nvPr/>
        </p:nvSpPr>
        <p:spPr>
          <a:xfrm>
            <a:off x="548640" y="37947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agenda-item-3"/>
          <p:cNvSpPr txBox="1"/>
          <p:nvPr/>
        </p:nvSpPr>
        <p:spPr>
          <a:xfrm>
            <a:off x="13716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Results so far</a:t>
            </a:r>
            <a:endParaRPr lang="en-US" sz="2200" dirty="0"/>
          </a:p>
        </p:txBody>
      </p:sp>
      <p:sp>
        <p:nvSpPr>
          <p:cNvPr id="12" name="agenda-rule-3"/>
          <p:cNvSpPr/>
          <p:nvPr/>
        </p:nvSpPr>
        <p:spPr>
          <a:xfrm>
            <a:off x="548640" y="454456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agenda-num-4"/>
          <p:cNvSpPr txBox="1"/>
          <p:nvPr/>
        </p:nvSpPr>
        <p:spPr>
          <a:xfrm>
            <a:off x="548640" y="4754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agenda-item-4"/>
          <p:cNvSpPr txBox="1"/>
          <p:nvPr/>
        </p:nvSpPr>
        <p:spPr>
          <a:xfrm>
            <a:off x="1371600" y="4754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15" name="agenda-rule-4"/>
          <p:cNvSpPr/>
          <p:nvPr/>
        </p:nvSpPr>
        <p:spPr>
          <a:xfrm>
            <a:off x="548640" y="550468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5544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600" b="1" kern="0" spc="-300" dirty="0">
                <a:solidFill>
                  <a:schemeClr val="accent1"/>
                </a:solidFill>
              </a:rPr>
              <a:t>01</a:t>
            </a:r>
            <a:endParaRPr lang="en-US" sz="96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00" dirty="0">
                <a:solidFill>
                  <a:schemeClr val="tx1"/>
                </a:solidFill>
              </a:rPr>
              <a:t>THE FIVE PILLARS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4480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How TRUST-AI frames trustworthy 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A content slide with a title and bullets</a:t>
            </a: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Keep one message per slide; the title states 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Body text is 16 pt Space Grotesk on white, like the site’s pages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eyebrow above the title is optional: delete it or leave it empty</a:t>
            </a:r>
            <a:endParaRPr lang="en-US" sz="16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Second-level points work too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Two columns for side-by-side content</a:t>
            </a: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640" y="1828800"/>
            <a:ext cx="527288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Today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Fragmented guidance across sectors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Compliance treated as an afterthought</a:t>
            </a:r>
            <a:endParaRPr lang="en-US" sz="1600" dirty="0"/>
          </a:p>
        </p:txBody>
      </p:sp>
      <p:sp>
        <p:nvSpPr>
          <p:cNvPr id="5" name="Text 1"/>
          <p:cNvSpPr>
            <a:spLocks noGrp="1"/>
          </p:cNvSpPr>
          <p:nvPr>
            <p:ph type="body" idx="104" hasCustomPrompt="1"/>
          </p:nvPr>
        </p:nvSpPr>
        <p:spPr>
          <a:xfrm>
            <a:off x="6370168" y="1828800"/>
            <a:ext cx="527288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With TRUST-AI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Shared methods from design to deployment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Governance built in from the start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PILLARS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Cards with a hard shadow, as on the website</a:t>
            </a:r>
            <a:endParaRPr lang="en-US" sz="3200" dirty="0"/>
          </a:p>
        </p:txBody>
      </p:sp>
      <p:sp>
        <p:nvSpPr>
          <p:cNvPr id="4" name="pillar-card-1-shadow"/>
          <p:cNvSpPr/>
          <p:nvPr/>
        </p:nvSpPr>
        <p:spPr>
          <a:xfrm>
            <a:off x="612648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pillar-card-1"/>
          <p:cNvSpPr/>
          <p:nvPr/>
        </p:nvSpPr>
        <p:spPr>
          <a:xfrm>
            <a:off x="548640" y="1965960"/>
            <a:ext cx="1986625" cy="3566160"/>
          </a:xfrm>
          <a:prstGeom prst="rect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pillar-letter-1"/>
          <p:cNvSpPr txBox="1"/>
          <p:nvPr/>
        </p:nvSpPr>
        <p:spPr>
          <a:xfrm>
            <a:off x="777240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tx1"/>
                </a:solidFill>
              </a:rPr>
              <a:t>T</a:t>
            </a:r>
            <a:endParaRPr lang="en-US" sz="6000" dirty="0"/>
          </a:p>
        </p:txBody>
      </p:sp>
      <p:sp>
        <p:nvSpPr>
          <p:cNvPr id="7" name="pillar-label-1"/>
          <p:cNvSpPr txBox="1"/>
          <p:nvPr/>
        </p:nvSpPr>
        <p:spPr>
          <a:xfrm>
            <a:off x="777240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TRUST-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WORTHINESS</a:t>
            </a:r>
            <a:endParaRPr lang="en-US" sz="1400" dirty="0"/>
          </a:p>
        </p:txBody>
      </p:sp>
      <p:sp>
        <p:nvSpPr>
          <p:cNvPr id="8" name="pillar-card-2-shadow"/>
          <p:cNvSpPr/>
          <p:nvPr/>
        </p:nvSpPr>
        <p:spPr>
          <a:xfrm>
            <a:off x="2873593" y="2029968"/>
            <a:ext cx="1986625" cy="356616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pillar-card-2"/>
          <p:cNvSpPr/>
          <p:nvPr/>
        </p:nvSpPr>
        <p:spPr>
          <a:xfrm>
            <a:off x="2809585" y="1965960"/>
            <a:ext cx="1986625" cy="356616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pillar-letter-2"/>
          <p:cNvSpPr txBox="1"/>
          <p:nvPr/>
        </p:nvSpPr>
        <p:spPr>
          <a:xfrm>
            <a:off x="3038185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2"/>
                </a:solidFill>
              </a:rPr>
              <a:t>R</a:t>
            </a:r>
            <a:endParaRPr lang="en-US" sz="6000" dirty="0"/>
          </a:p>
        </p:txBody>
      </p:sp>
      <p:sp>
        <p:nvSpPr>
          <p:cNvPr id="11" name="pillar-label-2"/>
          <p:cNvSpPr txBox="1"/>
          <p:nvPr/>
        </p:nvSpPr>
        <p:spPr>
          <a:xfrm>
            <a:off x="3038185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chemeClr val="bg2"/>
                </a:solidFill>
              </a:rPr>
              <a:t>RESPONSIBLE GOVERNANCE</a:t>
            </a:r>
            <a:endParaRPr lang="en-US" sz="1400" dirty="0"/>
          </a:p>
        </p:txBody>
      </p:sp>
      <p:sp>
        <p:nvSpPr>
          <p:cNvPr id="12" name="pillar-card-3-shadow"/>
          <p:cNvSpPr/>
          <p:nvPr/>
        </p:nvSpPr>
        <p:spPr>
          <a:xfrm>
            <a:off x="5134539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pillar-card-3"/>
          <p:cNvSpPr/>
          <p:nvPr/>
        </p:nvSpPr>
        <p:spPr>
          <a:xfrm>
            <a:off x="5070531" y="1965960"/>
            <a:ext cx="1986625" cy="356616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pillar-letter-3"/>
          <p:cNvSpPr txBox="1"/>
          <p:nvPr/>
        </p:nvSpPr>
        <p:spPr>
          <a:xfrm>
            <a:off x="5299131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tx1"/>
                </a:solidFill>
              </a:rPr>
              <a:t>U</a:t>
            </a:r>
            <a:endParaRPr lang="en-US" sz="6000" dirty="0"/>
          </a:p>
        </p:txBody>
      </p:sp>
      <p:sp>
        <p:nvSpPr>
          <p:cNvPr id="15" name="pillar-label-3"/>
          <p:cNvSpPr txBox="1"/>
          <p:nvPr/>
        </p:nvSpPr>
        <p:spPr>
          <a:xfrm>
            <a:off x="5299131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UNIVERSAL RIGHTS &amp; INCLUSIVE DESIGN</a:t>
            </a:r>
            <a:endParaRPr lang="en-US" sz="1400" dirty="0"/>
          </a:p>
        </p:txBody>
      </p:sp>
      <p:sp>
        <p:nvSpPr>
          <p:cNvPr id="16" name="pillar-card-4-shadow"/>
          <p:cNvSpPr/>
          <p:nvPr/>
        </p:nvSpPr>
        <p:spPr>
          <a:xfrm>
            <a:off x="7395484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pillar-card-4"/>
          <p:cNvSpPr/>
          <p:nvPr/>
        </p:nvSpPr>
        <p:spPr>
          <a:xfrm>
            <a:off x="7331476" y="1965960"/>
            <a:ext cx="1986625" cy="356616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pillar-letter-4"/>
          <p:cNvSpPr txBox="1"/>
          <p:nvPr/>
        </p:nvSpPr>
        <p:spPr>
          <a:xfrm>
            <a:off x="7560076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tx1"/>
                </a:solidFill>
              </a:rPr>
              <a:t>S</a:t>
            </a:r>
            <a:endParaRPr lang="en-US" sz="6000" dirty="0"/>
          </a:p>
        </p:txBody>
      </p:sp>
      <p:sp>
        <p:nvSpPr>
          <p:cNvPr id="19" name="pillar-label-4"/>
          <p:cNvSpPr txBox="1"/>
          <p:nvPr/>
        </p:nvSpPr>
        <p:spPr>
          <a:xfrm>
            <a:off x="7560076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SOCIETAL &amp; SUSTAINABLE IMPACT</a:t>
            </a:r>
            <a:endParaRPr lang="en-US" sz="1400" dirty="0"/>
          </a:p>
        </p:txBody>
      </p:sp>
      <p:sp>
        <p:nvSpPr>
          <p:cNvPr id="20" name="pillar-card-5-shadow"/>
          <p:cNvSpPr/>
          <p:nvPr/>
        </p:nvSpPr>
        <p:spPr>
          <a:xfrm>
            <a:off x="9656430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pillar-card-5"/>
          <p:cNvSpPr/>
          <p:nvPr/>
        </p:nvSpPr>
        <p:spPr>
          <a:xfrm>
            <a:off x="9592422" y="1965960"/>
            <a:ext cx="1986625" cy="356616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pillar-letter-5"/>
          <p:cNvSpPr txBox="1"/>
          <p:nvPr/>
        </p:nvSpPr>
        <p:spPr>
          <a:xfrm>
            <a:off x="9821022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tx1"/>
                </a:solidFill>
              </a:rPr>
              <a:t>T</a:t>
            </a:r>
            <a:endParaRPr lang="en-US" sz="6000" dirty="0"/>
          </a:p>
        </p:txBody>
      </p:sp>
      <p:sp>
        <p:nvSpPr>
          <p:cNvPr id="23" name="pillar-label-5"/>
          <p:cNvSpPr txBox="1"/>
          <p:nvPr/>
        </p:nvSpPr>
        <p:spPr>
          <a:xfrm>
            <a:off x="9821022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TRANSPARENCY &amp; COMPLIANCE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 FIGURES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Three numbers worth remembering</a:t>
            </a:r>
            <a:endParaRPr lang="en-US" sz="3200" dirty="0"/>
          </a:p>
        </p:txBody>
      </p:sp>
      <p:sp>
        <p:nvSpPr>
          <p:cNvPr id="4" name="stat-card-1-shadow"/>
          <p:cNvSpPr/>
          <p:nvPr/>
        </p:nvSpPr>
        <p:spPr>
          <a:xfrm>
            <a:off x="612648" y="2258568"/>
            <a:ext cx="3372002" cy="237744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tat-card-1"/>
          <p:cNvSpPr/>
          <p:nvPr/>
        </p:nvSpPr>
        <p:spPr>
          <a:xfrm>
            <a:off x="548640" y="2194560"/>
            <a:ext cx="3372002" cy="23774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tat-value-1"/>
          <p:cNvSpPr txBox="1"/>
          <p:nvPr/>
        </p:nvSpPr>
        <p:spPr>
          <a:xfrm>
            <a:off x="868680" y="2468880"/>
            <a:ext cx="273192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b="1" kern="0" spc="-200" dirty="0">
                <a:solidFill>
                  <a:schemeClr val="tx1"/>
                </a:solidFill>
              </a:rPr>
              <a:t>12</a:t>
            </a:r>
            <a:endParaRPr lang="en-US" sz="6600" dirty="0"/>
          </a:p>
        </p:txBody>
      </p:sp>
      <p:sp>
        <p:nvSpPr>
          <p:cNvPr id="7" name="stat-label-1"/>
          <p:cNvSpPr txBox="1"/>
          <p:nvPr/>
        </p:nvSpPr>
        <p:spPr>
          <a:xfrm>
            <a:off x="868680" y="3794760"/>
            <a:ext cx="2731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tx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PARTNER INSTITUTIONS</a:t>
            </a:r>
            <a:endParaRPr lang="en-US" sz="1100" dirty="0"/>
          </a:p>
        </p:txBody>
      </p:sp>
      <p:sp>
        <p:nvSpPr>
          <p:cNvPr id="8" name="stat-card-2-shadow"/>
          <p:cNvSpPr/>
          <p:nvPr/>
        </p:nvSpPr>
        <p:spPr>
          <a:xfrm>
            <a:off x="4441850" y="2258568"/>
            <a:ext cx="3372002" cy="237744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tat-card-2"/>
          <p:cNvSpPr/>
          <p:nvPr/>
        </p:nvSpPr>
        <p:spPr>
          <a:xfrm>
            <a:off x="4377842" y="2194560"/>
            <a:ext cx="3372002" cy="23774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tat-value-2"/>
          <p:cNvSpPr txBox="1"/>
          <p:nvPr/>
        </p:nvSpPr>
        <p:spPr>
          <a:xfrm>
            <a:off x="4697882" y="2468880"/>
            <a:ext cx="273192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b="1" kern="0" spc="-200" dirty="0">
                <a:solidFill>
                  <a:schemeClr val="tx1"/>
                </a:solidFill>
              </a:rPr>
              <a:t>5</a:t>
            </a:r>
            <a:endParaRPr lang="en-US" sz="6600" dirty="0"/>
          </a:p>
        </p:txBody>
      </p:sp>
      <p:sp>
        <p:nvSpPr>
          <p:cNvPr id="11" name="stat-label-2"/>
          <p:cNvSpPr txBox="1"/>
          <p:nvPr/>
        </p:nvSpPr>
        <p:spPr>
          <a:xfrm>
            <a:off x="4697882" y="3794760"/>
            <a:ext cx="2731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tx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RESEARCH PILLARS</a:t>
            </a:r>
            <a:endParaRPr lang="en-US" sz="1100" dirty="0"/>
          </a:p>
        </p:txBody>
      </p:sp>
      <p:sp>
        <p:nvSpPr>
          <p:cNvPr id="12" name="stat-card-3-shadow"/>
          <p:cNvSpPr/>
          <p:nvPr/>
        </p:nvSpPr>
        <p:spPr>
          <a:xfrm>
            <a:off x="8271053" y="2258568"/>
            <a:ext cx="3372002" cy="237744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tat-card-3"/>
          <p:cNvSpPr/>
          <p:nvPr/>
        </p:nvSpPr>
        <p:spPr>
          <a:xfrm>
            <a:off x="8207045" y="2194560"/>
            <a:ext cx="3372002" cy="23774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tat-value-3"/>
          <p:cNvSpPr txBox="1"/>
          <p:nvPr/>
        </p:nvSpPr>
        <p:spPr>
          <a:xfrm>
            <a:off x="8527085" y="2468880"/>
            <a:ext cx="273192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600" b="1" kern="0" spc="-200" dirty="0">
                <a:solidFill>
                  <a:schemeClr val="tx1"/>
                </a:solidFill>
              </a:rPr>
              <a:t>30+</a:t>
            </a:r>
            <a:endParaRPr lang="en-US" sz="6600" dirty="0"/>
          </a:p>
        </p:txBody>
      </p:sp>
      <p:sp>
        <p:nvSpPr>
          <p:cNvPr id="15" name="stat-label-3"/>
          <p:cNvSpPr txBox="1"/>
          <p:nvPr/>
        </p:nvSpPr>
        <p:spPr>
          <a:xfrm>
            <a:off x="8527085" y="3794760"/>
            <a:ext cx="2731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tx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EVENTS PLANNED FOR 2027</a:t>
            </a:r>
            <a:endParaRPr lang="en-US" sz="1100" dirty="0"/>
          </a:p>
        </p:txBody>
      </p:sp>
      <p:sp>
        <p:nvSpPr>
          <p:cNvPr id="16" name="stat-note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Placeholder figures, replace with real ones.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50" dirty="0">
                <a:solidFill>
                  <a:schemeClr val="tx1"/>
                </a:solidFill>
              </a:rPr>
              <a:t>Native charts in the site palette</a:t>
            </a:r>
            <a:endParaRPr lang="en-US" sz="3200" dirty="0"/>
          </a:p>
        </p:txBody>
      </p:sp>
      <p:graphicFrame>
        <p:nvGraphicFramePr>
          <p:cNvPr id="4" name="example-chart"/>
          <p:cNvGraphicFramePr/>
          <p:nvPr/>
        </p:nvGraphicFramePr>
        <p:xfrm>
          <a:off x="548640" y="1828800"/>
          <a:ext cx="1109441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8346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chemeClr val="bg2"/>
                </a:solidFill>
              </a:rPr>
              <a:t>THANK YOU.</a:t>
            </a:r>
            <a:endParaRPr lang="en-US" sz="5400" dirty="0"/>
          </a:p>
        </p:txBody>
      </p:sp>
      <p:sp>
        <p:nvSpPr>
          <p:cNvPr id="3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640" y="41148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name.surname@example.org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trust-ai.example.org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FFF6EF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UST-AI">
  <a:themeElements>
    <a:clrScheme name="TRUST-AI">
      <a:dk1>
        <a:srgbClr val="262628"/>
      </a:dk1>
      <a:lt1>
        <a:srgbClr val="FFFFFF"/>
      </a:lt1>
      <a:dk2>
        <a:srgbClr val="6B6668"/>
      </a:dk2>
      <a:lt2>
        <a:srgbClr val="FFF6EF"/>
      </a:lt2>
      <a:accent1>
        <a:srgbClr val="C7C3F2"/>
      </a:accent1>
      <a:accent2>
        <a:srgbClr val="D86072"/>
      </a:accent2>
      <a:accent3>
        <a:srgbClr val="D6DC82"/>
      </a:accent3>
      <a:accent4>
        <a:srgbClr val="5B54B0"/>
      </a:accent4>
      <a:accent5>
        <a:srgbClr val="F7EBE1"/>
      </a:accent5>
      <a:accent6>
        <a:srgbClr val="8E89D6"/>
      </a:accent6>
      <a:hlink>
        <a:srgbClr val="5B54B0"/>
      </a:hlink>
      <a:folHlink>
        <a:srgbClr val="D86072"/>
      </a:folHlink>
    </a:clrScheme>
    <a:fontScheme name="TRUST-AI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ace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241</Words>
  <Application>Microsoft Macintosh PowerPoint</Application>
  <PresentationFormat>Widescreen</PresentationFormat>
  <Paragraphs>75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3" baseType="lpstr">
      <vt:lpstr>Space Grotesk</vt:lpstr>
      <vt:lpstr>Arial</vt:lpstr>
      <vt:lpstr>JetBrains Mono</vt:lpstr>
      <vt:lpstr>TRUST-AI</vt:lpstr>
      <vt:lpstr>TRUST AI. DESIGN AND BUILD AI WE CAN TRUST.</vt:lpstr>
      <vt:lpstr>What we will cover</vt:lpstr>
      <vt:lpstr>THE FIVE PILLARS</vt:lpstr>
      <vt:lpstr>A content slide with a title and bullets</vt:lpstr>
      <vt:lpstr>Two columns for side-by-side content</vt:lpstr>
      <vt:lpstr>Cards with a hard shadow, as on the website</vt:lpstr>
      <vt:lpstr>Three numbers worth remembering</vt:lpstr>
      <vt:lpstr>Native charts in the site palette</vt:lpstr>
      <vt:lpstr>THANK YOU.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TRUST-AI presentation template</dc:title>
  <dc:subject>PptxGenJS Presentation</dc:subject>
  <dc:creator>TRUST-AI</dc:creator>
  <cp:lastModifiedBy>Roberta Calegari</cp:lastModifiedBy>
  <cp:revision>2</cp:revision>
  <dcterms:created xsi:type="dcterms:W3CDTF">2026-10-26T08:29:51Z</dcterms:created>
  <dcterms:modified xsi:type="dcterms:W3CDTF">2026-10-26T11:06:35Z</dcterms:modified>
</cp:coreProperties>
</file>