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Space Grotesk"/>
      <p:regular r:id="rId17"/>
      <p:bold r:id="rId18"/>
    </p:embeddedFont>
    <p:embeddedFont>
      <p:font typeface="JetBrains Mono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496f90e-477a-af66-32d1-4b9282e1a56f}">
          <p14:sldIdLst>
            <p14:sldId id="256"/>
            <p14:sldId id="257"/>
          </p14:sldIdLst>
        </p14:section>
        <p14:section name="Content" id="{b5b60362-077b-478d-bdec-a039a897fd92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losing" id="{2da7e575-185b-c94a-260c-fe6567a86e2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7C3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Research</c:v>
                  </c:pt>
                  <c:pt idx="1">
                    <c:v>Training</c:v>
                  </c:pt>
                  <c:pt idx="2">
                    <c:v>Policy</c:v>
                  </c:pt>
                  <c:pt idx="3">
                    <c:v>Outreach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6</c:v>
                </c:pt>
                <c:pt idx="3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D860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Research</c:v>
                  </c:pt>
                  <c:pt idx="1">
                    <c:v>Training</c:v>
                  </c:pt>
                  <c:pt idx="2">
                    <c:v>Policy</c:v>
                  </c:pt>
                  <c:pt idx="3">
                    <c:v>Outreach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12</c:v>
                </c:pt>
                <c:pt idx="2">
                  <c:v>10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262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1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626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p.CzRxgXMlu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527048"/>
            <a:ext cx="292608" cy="274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60120" y="1417320"/>
            <a:ext cx="7315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1000" dirty="0"/>
          </a:p>
        </p:txBody>
      </p:sp>
      <p:pic>
        <p:nvPicPr>
          <p:cNvPr id="5" name="Image 1" descr="/tmp/tmp.CzRxgXMlu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25880"/>
            <a:ext cx="3566160" cy="356616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4" type="title" hasCustomPrompt="1"/>
          </p:nvPr>
        </p:nvSpPr>
        <p:spPr>
          <a:xfrm>
            <a:off x="548640" y="1874520"/>
            <a:ext cx="71323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5000"/>
              </a:lnSpc>
              <a:buNone/>
              <a:defRPr lang="en-US" sz="5400" b="1" spc="-1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85000"/>
              </a:lnSpc>
              <a:buNone/>
            </a:pPr>
            <a:r>
              <a:rPr lang="en-US" sz="5400" b="1" spc="-150" kern="0" dirty="0">
                <a:solidFill>
                  <a:schemeClr val="tx1"/>
                </a:solidFill>
              </a:rPr>
              <a:t>PRESENTATION TITLE</a:t>
            </a:r>
            <a:endParaRPr lang="en-US" sz="54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48640" y="420624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Subtitle or one-line summary</a:t>
            </a:r>
            <a:endParaRPr lang="en-US" sz="16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PRESENTER · EVENT · DATE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tmp.CzRxgXMlu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600" b="1" spc="-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9600" b="1" spc="-300" kern="0" dirty="0">
                <a:solidFill>
                  <a:schemeClr val="accent1"/>
                </a:solidFill>
              </a:rPr>
              <a:t>01</a:t>
            </a:r>
            <a:endParaRPr lang="en-US" sz="9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spc="-100" kern="0" dirty="0">
                <a:solidFill>
                  <a:schemeClr val="tx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48056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Optional one-line description</a:t>
            </a:r>
            <a:endParaRPr lang="en-US" sz="1600" dirty="0"/>
          </a:p>
        </p:txBody>
      </p:sp>
      <p:pic>
        <p:nvPicPr>
          <p:cNvPr id="6" name="Image 1" descr="/tmp/tmp.CzRxgXMlu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37744" cy="23774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96112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292608" cy="274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Body text</a:t>
            </a:r>
            <a:endParaRPr lang="en-US" sz="1600" dirty="0"/>
          </a:p>
        </p:txBody>
      </p:sp>
      <p:pic>
        <p:nvPicPr>
          <p:cNvPr id="6" name="Image 0" descr="/tmp/tmp.CzRxgXMlu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237744" cy="23774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96112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292608" cy="274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828800"/>
            <a:ext cx="5272888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Left column</a:t>
            </a:r>
            <a:endParaRPr lang="en-US" sz="1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370168" y="1828800"/>
            <a:ext cx="5272888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Right column</a:t>
            </a:r>
            <a:endParaRPr lang="en-US" sz="1600" dirty="0"/>
          </a:p>
        </p:txBody>
      </p:sp>
      <p:pic>
        <p:nvPicPr>
          <p:cNvPr id="7" name="Image 0" descr="/tmp/tmp.CzRxgXMlu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237744" cy="237744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96112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292608" cy="274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Slide title</a:t>
            </a:r>
            <a:endParaRPr lang="en-US" sz="3200" dirty="0"/>
          </a:p>
        </p:txBody>
      </p:sp>
      <p:pic>
        <p:nvPicPr>
          <p:cNvPr id="5" name="Image 0" descr="/tmp/tmp.CzRxgXMlu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96112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005840" cy="1005840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3" name="Image 0" descr="/tmp/tmp.CzRxgXMlu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786384" cy="78638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834640"/>
            <a:ext cx="9144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spc="-150" kern="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spc="-150" kern="0" dirty="0">
                <a:solidFill>
                  <a:schemeClr val="bg2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411480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400"/>
              </a:spcAft>
              <a:buNone/>
              <a:def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contact@example.org</a:t>
            </a:r>
            <a:endParaRPr lang="en-US" sz="1200" dirty="0"/>
          </a:p>
        </p:txBody>
      </p:sp>
      <p:pic>
        <p:nvPicPr>
          <p:cNvPr id="6" name="Image 1" descr="/tmp/tmp.CzRxgXMlu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237744" cy="23774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96112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chemeClr val="bg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6E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image" Target="../media/image-7-4.png"/><Relationship Id="rId5" Type="http://schemas.openxmlformats.org/officeDocument/2006/relationships/image" Target="../media/image-7-5.jpg"/><Relationship Id="rId6" Type="http://schemas.openxmlformats.org/officeDocument/2006/relationships/image" Target="../media/image-7-6.png"/><Relationship Id="rId7" Type="http://schemas.openxmlformats.org/officeDocument/2006/relationships/image" Target="../media/image-7-7.jpg"/><Relationship Id="rId8" Type="http://schemas.openxmlformats.org/officeDocument/2006/relationships/image" Target="../media/image-7-8.png"/><Relationship Id="rId9" Type="http://schemas.openxmlformats.org/officeDocument/2006/relationships/image" Target="../media/image-7-9.jp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960120" y="1417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INTERNATIONAL JOINT INITIATIVE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187452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b="1" spc="-150" kern="0" dirty="0">
                <a:solidFill>
                  <a:schemeClr val="tx1"/>
                </a:solidFill>
              </a:rPr>
              <a:t>TRUSTED AI</a:t>
            </a:r>
            <a:pPr algn="l" indent="0" marL="0">
              <a:lnSpc>
                <a:spcPct val="85000"/>
              </a:lnSpc>
              <a:buNone/>
            </a:pPr>
            <a:r>
              <a:rPr lang="en-US" sz="5400" b="1" spc="-150" kern="0" dirty="0">
                <a:solidFill>
                  <a:schemeClr val="accent2"/>
                </a:solidFill>
              </a:rPr>
              <a:t>.</a:t>
            </a:r>
            <a:endParaRPr lang="en-US" sz="54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54864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Advancing AI that is trustworthy, inclusive, sustainable and compliant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6" type="body" hasCustomPrompt="1"/>
          </p:nvPr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SURNAME · EVENT NAME · DATE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What we will cover</a:t>
            </a:r>
            <a:endParaRPr lang="en-US" sz="3200" dirty="0"/>
          </a:p>
        </p:txBody>
      </p:sp>
      <p:sp>
        <p:nvSpPr>
          <p:cNvPr id="4" name="agenda-num-1"/>
          <p:cNvSpPr txBox="1"/>
          <p:nvPr/>
        </p:nvSpPr>
        <p:spPr>
          <a:xfrm>
            <a:off x="54864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agenda-item-1"/>
          <p:cNvSpPr txBox="1"/>
          <p:nvPr/>
        </p:nvSpPr>
        <p:spPr>
          <a:xfrm>
            <a:off x="13716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Context and motivation</a:t>
            </a:r>
            <a:endParaRPr lang="en-US" sz="2200" dirty="0"/>
          </a:p>
        </p:txBody>
      </p:sp>
      <p:sp>
        <p:nvSpPr>
          <p:cNvPr id="6" name="agenda-rule-1"/>
          <p:cNvSpPr/>
          <p:nvPr/>
        </p:nvSpPr>
        <p:spPr>
          <a:xfrm>
            <a:off x="548640" y="2624328"/>
            <a:ext cx="11094415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sp>
        <p:nvSpPr>
          <p:cNvPr id="7" name="agenda-num-2"/>
          <p:cNvSpPr txBox="1"/>
          <p:nvPr/>
        </p:nvSpPr>
        <p:spPr>
          <a:xfrm>
            <a:off x="548640" y="2834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agenda-item-2"/>
          <p:cNvSpPr txBox="1"/>
          <p:nvPr/>
        </p:nvSpPr>
        <p:spPr>
          <a:xfrm>
            <a:off x="13716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five TRUST pillars</a:t>
            </a:r>
            <a:endParaRPr lang="en-US" sz="2200" dirty="0"/>
          </a:p>
        </p:txBody>
      </p:sp>
      <p:sp>
        <p:nvSpPr>
          <p:cNvPr id="9" name="agenda-rule-2"/>
          <p:cNvSpPr/>
          <p:nvPr/>
        </p:nvSpPr>
        <p:spPr>
          <a:xfrm>
            <a:off x="548640" y="3584448"/>
            <a:ext cx="11094415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sp>
        <p:nvSpPr>
          <p:cNvPr id="10" name="agenda-num-3"/>
          <p:cNvSpPr txBox="1"/>
          <p:nvPr/>
        </p:nvSpPr>
        <p:spPr>
          <a:xfrm>
            <a:off x="54864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agenda-item-3"/>
          <p:cNvSpPr txBox="1"/>
          <p:nvPr/>
        </p:nvSpPr>
        <p:spPr>
          <a:xfrm>
            <a:off x="13716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Results so far</a:t>
            </a:r>
            <a:endParaRPr lang="en-US" sz="2200" dirty="0"/>
          </a:p>
        </p:txBody>
      </p:sp>
      <p:sp>
        <p:nvSpPr>
          <p:cNvPr id="12" name="agenda-rule-3"/>
          <p:cNvSpPr/>
          <p:nvPr/>
        </p:nvSpPr>
        <p:spPr>
          <a:xfrm>
            <a:off x="548640" y="4544568"/>
            <a:ext cx="11094415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sp>
        <p:nvSpPr>
          <p:cNvPr id="13" name="agenda-num-4"/>
          <p:cNvSpPr txBox="1"/>
          <p:nvPr/>
        </p:nvSpPr>
        <p:spPr>
          <a:xfrm>
            <a:off x="54864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agenda-item-4"/>
          <p:cNvSpPr txBox="1"/>
          <p:nvPr/>
        </p:nvSpPr>
        <p:spPr>
          <a:xfrm>
            <a:off x="1371600" y="4754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15" name="agenda-rule-4"/>
          <p:cNvSpPr/>
          <p:nvPr/>
        </p:nvSpPr>
        <p:spPr>
          <a:xfrm>
            <a:off x="548640" y="5504688"/>
            <a:ext cx="11094415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chemeClr val="accent1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chemeClr val="tx1"/>
                </a:solidFill>
              </a:rPr>
              <a:t>THE FIVE PILLARS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480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How TRUST-AI frames trustworthy 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A content slide with a title and bullets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Keep one message per slide; the title states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Body text is 16 pt Space Grotesk on white, like the site’s pages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eyebrow above the title is optional: delete it or leave it empty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Second-level points work too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Two columns for side-by-side content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828800"/>
            <a:ext cx="527288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Today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Fragmented guidance across sectors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Compliance treated as an afterthought</a:t>
            </a:r>
            <a:endParaRPr lang="en-US" sz="16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370168" y="1828800"/>
            <a:ext cx="527288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With TRUST-AI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Shared methods from design to deployment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Governance built in from the start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Cards with a hard shadow, as on the website</a:t>
            </a:r>
            <a:endParaRPr lang="en-US" sz="3200" dirty="0"/>
          </a:p>
        </p:txBody>
      </p:sp>
      <p:sp>
        <p:nvSpPr>
          <p:cNvPr id="4" name="pillar-card-1-shadow"/>
          <p:cNvSpPr/>
          <p:nvPr/>
        </p:nvSpPr>
        <p:spPr>
          <a:xfrm>
            <a:off x="612648" y="2029968"/>
            <a:ext cx="1986625" cy="3566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pillar-card-1"/>
          <p:cNvSpPr/>
          <p:nvPr/>
        </p:nvSpPr>
        <p:spPr>
          <a:xfrm>
            <a:off x="548640" y="1965960"/>
            <a:ext cx="1986625" cy="356616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" name="pillar-letter-1"/>
          <p:cNvSpPr txBox="1"/>
          <p:nvPr/>
        </p:nvSpPr>
        <p:spPr>
          <a:xfrm>
            <a:off x="777240" y="214884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T</a:t>
            </a:r>
            <a:endParaRPr lang="en-US" sz="6000" dirty="0"/>
          </a:p>
        </p:txBody>
      </p:sp>
      <p:sp>
        <p:nvSpPr>
          <p:cNvPr id="7" name="pillar-label-1"/>
          <p:cNvSpPr txBox="1"/>
          <p:nvPr/>
        </p:nvSpPr>
        <p:spPr>
          <a:xfrm>
            <a:off x="777240" y="429768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TRUST-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WORTHINESS</a:t>
            </a:r>
            <a:endParaRPr lang="en-US" sz="1400" dirty="0"/>
          </a:p>
        </p:txBody>
      </p:sp>
      <p:sp>
        <p:nvSpPr>
          <p:cNvPr id="8" name="pillar-card-2-shadow"/>
          <p:cNvSpPr/>
          <p:nvPr/>
        </p:nvSpPr>
        <p:spPr>
          <a:xfrm>
            <a:off x="2873593" y="2029968"/>
            <a:ext cx="1986625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pillar-card-2"/>
          <p:cNvSpPr/>
          <p:nvPr/>
        </p:nvSpPr>
        <p:spPr>
          <a:xfrm>
            <a:off x="2809585" y="1965960"/>
            <a:ext cx="1986625" cy="356616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pillar-letter-2"/>
          <p:cNvSpPr txBox="1"/>
          <p:nvPr/>
        </p:nvSpPr>
        <p:spPr>
          <a:xfrm>
            <a:off x="3038185" y="214884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R</a:t>
            </a:r>
            <a:endParaRPr lang="en-US" sz="6000" dirty="0"/>
          </a:p>
        </p:txBody>
      </p:sp>
      <p:sp>
        <p:nvSpPr>
          <p:cNvPr id="11" name="pillar-label-2"/>
          <p:cNvSpPr txBox="1"/>
          <p:nvPr/>
        </p:nvSpPr>
        <p:spPr>
          <a:xfrm>
            <a:off x="3038185" y="429768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RESPONSIBLE GOVERNANCE</a:t>
            </a:r>
            <a:endParaRPr lang="en-US" sz="1400" dirty="0"/>
          </a:p>
        </p:txBody>
      </p:sp>
      <p:sp>
        <p:nvSpPr>
          <p:cNvPr id="12" name="pillar-card-3-shadow"/>
          <p:cNvSpPr/>
          <p:nvPr/>
        </p:nvSpPr>
        <p:spPr>
          <a:xfrm>
            <a:off x="5134539" y="2029968"/>
            <a:ext cx="1986625" cy="3566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pillar-card-3"/>
          <p:cNvSpPr/>
          <p:nvPr/>
        </p:nvSpPr>
        <p:spPr>
          <a:xfrm>
            <a:off x="5070531" y="1965960"/>
            <a:ext cx="1986625" cy="356616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pillar-letter-3"/>
          <p:cNvSpPr txBox="1"/>
          <p:nvPr/>
        </p:nvSpPr>
        <p:spPr>
          <a:xfrm>
            <a:off x="5299131" y="214884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U</a:t>
            </a:r>
            <a:endParaRPr lang="en-US" sz="6000" dirty="0"/>
          </a:p>
        </p:txBody>
      </p:sp>
      <p:sp>
        <p:nvSpPr>
          <p:cNvPr id="15" name="pillar-label-3"/>
          <p:cNvSpPr txBox="1"/>
          <p:nvPr/>
        </p:nvSpPr>
        <p:spPr>
          <a:xfrm>
            <a:off x="5299131" y="429768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UNIVERSAL RIGHTS &amp; INCLUSIVE DESIGN</a:t>
            </a:r>
            <a:endParaRPr lang="en-US" sz="1400" dirty="0"/>
          </a:p>
        </p:txBody>
      </p:sp>
      <p:sp>
        <p:nvSpPr>
          <p:cNvPr id="16" name="pillar-card-4-shadow"/>
          <p:cNvSpPr/>
          <p:nvPr/>
        </p:nvSpPr>
        <p:spPr>
          <a:xfrm>
            <a:off x="7395484" y="2029968"/>
            <a:ext cx="1986625" cy="3566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pillar-card-4"/>
          <p:cNvSpPr/>
          <p:nvPr/>
        </p:nvSpPr>
        <p:spPr>
          <a:xfrm>
            <a:off x="7331476" y="1965960"/>
            <a:ext cx="1986625" cy="356616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8" name="pillar-letter-4"/>
          <p:cNvSpPr txBox="1"/>
          <p:nvPr/>
        </p:nvSpPr>
        <p:spPr>
          <a:xfrm>
            <a:off x="7560076" y="214884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S</a:t>
            </a:r>
            <a:endParaRPr lang="en-US" sz="6000" dirty="0"/>
          </a:p>
        </p:txBody>
      </p:sp>
      <p:sp>
        <p:nvSpPr>
          <p:cNvPr id="19" name="pillar-label-4"/>
          <p:cNvSpPr txBox="1"/>
          <p:nvPr/>
        </p:nvSpPr>
        <p:spPr>
          <a:xfrm>
            <a:off x="7560076" y="429768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SOCIETAL &amp; SUSTAINABLE IMPACT</a:t>
            </a:r>
            <a:endParaRPr lang="en-US" sz="1400" dirty="0"/>
          </a:p>
        </p:txBody>
      </p:sp>
      <p:sp>
        <p:nvSpPr>
          <p:cNvPr id="20" name="pillar-card-5-shadow"/>
          <p:cNvSpPr/>
          <p:nvPr/>
        </p:nvSpPr>
        <p:spPr>
          <a:xfrm>
            <a:off x="9656430" y="2029968"/>
            <a:ext cx="1986625" cy="3566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pillar-card-5"/>
          <p:cNvSpPr/>
          <p:nvPr/>
        </p:nvSpPr>
        <p:spPr>
          <a:xfrm>
            <a:off x="9592422" y="1965960"/>
            <a:ext cx="1986625" cy="356616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2" name="pillar-letter-5"/>
          <p:cNvSpPr txBox="1"/>
          <p:nvPr/>
        </p:nvSpPr>
        <p:spPr>
          <a:xfrm>
            <a:off x="9821022" y="214884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T</a:t>
            </a:r>
            <a:endParaRPr lang="en-US" sz="6000" dirty="0"/>
          </a:p>
        </p:txBody>
      </p:sp>
      <p:sp>
        <p:nvSpPr>
          <p:cNvPr id="23" name="pillar-label-5"/>
          <p:cNvSpPr txBox="1"/>
          <p:nvPr/>
        </p:nvSpPr>
        <p:spPr>
          <a:xfrm>
            <a:off x="9821022" y="4297680"/>
            <a:ext cx="15294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TRANSPARENCY &amp; COMPLIANCE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FOUNDERS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Five institutions, one initiative</a:t>
            </a:r>
            <a:endParaRPr lang="en-US" sz="3200" dirty="0"/>
          </a:p>
        </p:txBody>
      </p:sp>
      <p:sp>
        <p:nvSpPr>
          <p:cNvPr id="4" name="founder-photo-shadow-1"/>
          <p:cNvSpPr/>
          <p:nvPr/>
        </p:nvSpPr>
        <p:spPr>
          <a:xfrm>
            <a:off x="612648" y="1847088"/>
            <a:ext cx="14173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founder-photo-1" descr="Roberta Calegar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417320" cy="1417320"/>
          </a:xfrm>
          <a:prstGeom prst="rect">
            <a:avLst/>
          </a:prstGeom>
        </p:spPr>
      </p:pic>
      <p:sp>
        <p:nvSpPr>
          <p:cNvPr id="6" name="founder-photo-frame-1"/>
          <p:cNvSpPr/>
          <p:nvPr/>
        </p:nvSpPr>
        <p:spPr>
          <a:xfrm>
            <a:off x="548640" y="1783080"/>
            <a:ext cx="1417320" cy="1417320"/>
          </a:xfrm>
          <a:prstGeom prst="rect">
            <a:avLst/>
          </a:prstGeom>
          <a:ln w="25400">
            <a:solidFill>
              <a:schemeClr val="tx1"/>
            </a:solidFill>
            <a:prstDash val="solid"/>
          </a:ln>
        </p:spPr>
      </p:sp>
      <p:sp>
        <p:nvSpPr>
          <p:cNvPr id="7" name="founder-name-1"/>
          <p:cNvSpPr txBox="1"/>
          <p:nvPr/>
        </p:nvSpPr>
        <p:spPr>
          <a:xfrm>
            <a:off x="548640" y="3383280"/>
            <a:ext cx="19628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Roberta Calegari</a:t>
            </a:r>
            <a:endParaRPr lang="en-US" sz="1600" dirty="0"/>
          </a:p>
        </p:txBody>
      </p:sp>
      <p:sp>
        <p:nvSpPr>
          <p:cNvPr id="8" name="founder-inst-1"/>
          <p:cNvSpPr txBox="1"/>
          <p:nvPr/>
        </p:nvSpPr>
        <p:spPr>
          <a:xfrm>
            <a:off x="548640" y="3703320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UNIVERSITY OF BOLOGNA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ALMA AI</a:t>
            </a:r>
            <a:endParaRPr lang="en-US" sz="800" dirty="0"/>
          </a:p>
        </p:txBody>
      </p:sp>
      <p:sp>
        <p:nvSpPr>
          <p:cNvPr id="9" name="founder-skills-1"/>
          <p:cNvSpPr txBox="1"/>
          <p:nvPr/>
        </p:nvSpPr>
        <p:spPr>
          <a:xfrm>
            <a:off x="548640" y="4206240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Trustworthy AI, fairness and AI compliance</a:t>
            </a:r>
            <a:endParaRPr lang="en-US" sz="1100" dirty="0"/>
          </a:p>
        </p:txBody>
      </p:sp>
      <p:sp>
        <p:nvSpPr>
          <p:cNvPr id="10" name="founder-rule-1"/>
          <p:cNvSpPr/>
          <p:nvPr/>
        </p:nvSpPr>
        <p:spPr>
          <a:xfrm>
            <a:off x="548640" y="4892040"/>
            <a:ext cx="1962851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pic>
        <p:nvPicPr>
          <p:cNvPr id="11" name="founder-logo-1" descr="University of Bologna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0"/>
            <a:ext cx="992323" cy="731520"/>
          </a:xfrm>
          <a:prstGeom prst="rect">
            <a:avLst/>
          </a:prstGeom>
        </p:spPr>
      </p:pic>
      <p:sp>
        <p:nvSpPr>
          <p:cNvPr id="12" name="founder-photo-shadow-2"/>
          <p:cNvSpPr/>
          <p:nvPr/>
        </p:nvSpPr>
        <p:spPr>
          <a:xfrm>
            <a:off x="2895539" y="1847088"/>
            <a:ext cx="1417320" cy="141732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3" name="founder-photo-2" descr="Michela Mila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531" y="1783080"/>
            <a:ext cx="1417320" cy="1417320"/>
          </a:xfrm>
          <a:prstGeom prst="rect">
            <a:avLst/>
          </a:prstGeom>
        </p:spPr>
      </p:pic>
      <p:sp>
        <p:nvSpPr>
          <p:cNvPr id="14" name="founder-photo-frame-2"/>
          <p:cNvSpPr/>
          <p:nvPr/>
        </p:nvSpPr>
        <p:spPr>
          <a:xfrm>
            <a:off x="2831531" y="1783080"/>
            <a:ext cx="1417320" cy="1417320"/>
          </a:xfrm>
          <a:prstGeom prst="rect">
            <a:avLst/>
          </a:prstGeom>
          <a:ln w="25400">
            <a:solidFill>
              <a:schemeClr val="tx1"/>
            </a:solidFill>
            <a:prstDash val="solid"/>
          </a:ln>
        </p:spPr>
      </p:sp>
      <p:sp>
        <p:nvSpPr>
          <p:cNvPr id="15" name="founder-name-2"/>
          <p:cNvSpPr txBox="1"/>
          <p:nvPr/>
        </p:nvSpPr>
        <p:spPr>
          <a:xfrm>
            <a:off x="2831531" y="3383280"/>
            <a:ext cx="19628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Michela Milano</a:t>
            </a:r>
            <a:endParaRPr lang="en-US" sz="1600" dirty="0"/>
          </a:p>
        </p:txBody>
      </p:sp>
      <p:sp>
        <p:nvSpPr>
          <p:cNvPr id="16" name="founder-inst-2"/>
          <p:cNvSpPr txBox="1"/>
          <p:nvPr/>
        </p:nvSpPr>
        <p:spPr>
          <a:xfrm>
            <a:off x="2831531" y="3703320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FONDAZIONE BRUNO KESSLER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DIGITAL SOCIETY CENTER</a:t>
            </a:r>
            <a:endParaRPr lang="en-US" sz="800" dirty="0"/>
          </a:p>
        </p:txBody>
      </p:sp>
      <p:sp>
        <p:nvSpPr>
          <p:cNvPr id="17" name="founder-skills-2"/>
          <p:cNvSpPr txBox="1"/>
          <p:nvPr/>
        </p:nvSpPr>
        <p:spPr>
          <a:xfrm>
            <a:off x="2831531" y="4206240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Responsible AI engineering across the AI lifecycle</a:t>
            </a:r>
            <a:endParaRPr lang="en-US" sz="1100" dirty="0"/>
          </a:p>
        </p:txBody>
      </p:sp>
      <p:sp>
        <p:nvSpPr>
          <p:cNvPr id="18" name="founder-rule-2"/>
          <p:cNvSpPr/>
          <p:nvPr/>
        </p:nvSpPr>
        <p:spPr>
          <a:xfrm>
            <a:off x="2831531" y="4892040"/>
            <a:ext cx="1962851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pic>
        <p:nvPicPr>
          <p:cNvPr id="19" name="founder-logo-2" descr="Fondazione Bruno Kessler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531" y="5257952"/>
            <a:ext cx="1417320" cy="274015"/>
          </a:xfrm>
          <a:prstGeom prst="rect">
            <a:avLst/>
          </a:prstGeom>
        </p:spPr>
      </p:pic>
      <p:sp>
        <p:nvSpPr>
          <p:cNvPr id="20" name="founder-photo-shadow-3"/>
          <p:cNvSpPr/>
          <p:nvPr/>
        </p:nvSpPr>
        <p:spPr>
          <a:xfrm>
            <a:off x="5178430" y="1847088"/>
            <a:ext cx="1417320" cy="141732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21" name="founder-photo-3" descr="Virginia Dignu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422" y="1783080"/>
            <a:ext cx="1417320" cy="1417320"/>
          </a:xfrm>
          <a:prstGeom prst="rect">
            <a:avLst/>
          </a:prstGeom>
        </p:spPr>
      </p:pic>
      <p:sp>
        <p:nvSpPr>
          <p:cNvPr id="22" name="founder-photo-frame-3"/>
          <p:cNvSpPr/>
          <p:nvPr/>
        </p:nvSpPr>
        <p:spPr>
          <a:xfrm>
            <a:off x="5114422" y="1783080"/>
            <a:ext cx="1417320" cy="1417320"/>
          </a:xfrm>
          <a:prstGeom prst="rect">
            <a:avLst/>
          </a:prstGeom>
          <a:ln w="25400">
            <a:solidFill>
              <a:schemeClr val="tx1"/>
            </a:solidFill>
            <a:prstDash val="solid"/>
          </a:ln>
        </p:spPr>
      </p:sp>
      <p:sp>
        <p:nvSpPr>
          <p:cNvPr id="23" name="founder-name-3"/>
          <p:cNvSpPr txBox="1"/>
          <p:nvPr/>
        </p:nvSpPr>
        <p:spPr>
          <a:xfrm>
            <a:off x="5114422" y="3383280"/>
            <a:ext cx="19628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Virginia Dignum</a:t>
            </a:r>
            <a:endParaRPr lang="en-US" sz="1600" dirty="0"/>
          </a:p>
        </p:txBody>
      </p:sp>
      <p:sp>
        <p:nvSpPr>
          <p:cNvPr id="24" name="founder-inst-3"/>
          <p:cNvSpPr txBox="1"/>
          <p:nvPr/>
        </p:nvSpPr>
        <p:spPr>
          <a:xfrm>
            <a:off x="5114422" y="3703320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UMEÅ UNIVERSITY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POLICY LAB</a:t>
            </a:r>
            <a:endParaRPr lang="en-US" sz="800" dirty="0"/>
          </a:p>
        </p:txBody>
      </p:sp>
      <p:sp>
        <p:nvSpPr>
          <p:cNvPr id="25" name="founder-skills-3"/>
          <p:cNvSpPr txBox="1"/>
          <p:nvPr/>
        </p:nvSpPr>
        <p:spPr>
          <a:xfrm>
            <a:off x="5114422" y="4206240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Responsible AI governance, ethics and policy</a:t>
            </a:r>
            <a:endParaRPr lang="en-US" sz="1100" dirty="0"/>
          </a:p>
        </p:txBody>
      </p:sp>
      <p:sp>
        <p:nvSpPr>
          <p:cNvPr id="26" name="founder-rule-3"/>
          <p:cNvSpPr/>
          <p:nvPr/>
        </p:nvSpPr>
        <p:spPr>
          <a:xfrm>
            <a:off x="5114422" y="4892040"/>
            <a:ext cx="1962851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pic>
        <p:nvPicPr>
          <p:cNvPr id="27" name="founder-logo-3" descr="Umeå University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4422" y="5215088"/>
            <a:ext cx="1417320" cy="359744"/>
          </a:xfrm>
          <a:prstGeom prst="rect">
            <a:avLst/>
          </a:prstGeom>
        </p:spPr>
      </p:pic>
      <p:sp>
        <p:nvSpPr>
          <p:cNvPr id="28" name="founder-photo-shadow-4"/>
          <p:cNvSpPr/>
          <p:nvPr/>
        </p:nvSpPr>
        <p:spPr>
          <a:xfrm>
            <a:off x="7461321" y="1847088"/>
            <a:ext cx="1417320" cy="141732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29" name="founder-photo-4" descr="Payal Aror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7313" y="1783080"/>
            <a:ext cx="1417320" cy="1417320"/>
          </a:xfrm>
          <a:prstGeom prst="rect">
            <a:avLst/>
          </a:prstGeom>
        </p:spPr>
      </p:pic>
      <p:sp>
        <p:nvSpPr>
          <p:cNvPr id="30" name="founder-photo-frame-4"/>
          <p:cNvSpPr/>
          <p:nvPr/>
        </p:nvSpPr>
        <p:spPr>
          <a:xfrm>
            <a:off x="7397313" y="1783080"/>
            <a:ext cx="1417320" cy="1417320"/>
          </a:xfrm>
          <a:prstGeom prst="rect">
            <a:avLst/>
          </a:prstGeom>
          <a:ln w="25400">
            <a:solidFill>
              <a:schemeClr val="tx1"/>
            </a:solidFill>
            <a:prstDash val="solid"/>
          </a:ln>
        </p:spPr>
      </p:sp>
      <p:sp>
        <p:nvSpPr>
          <p:cNvPr id="31" name="founder-name-4"/>
          <p:cNvSpPr txBox="1"/>
          <p:nvPr/>
        </p:nvSpPr>
        <p:spPr>
          <a:xfrm>
            <a:off x="7397313" y="3383280"/>
            <a:ext cx="19628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Payal Arora</a:t>
            </a:r>
            <a:endParaRPr lang="en-US" sz="1600" dirty="0"/>
          </a:p>
        </p:txBody>
      </p:sp>
      <p:sp>
        <p:nvSpPr>
          <p:cNvPr id="32" name="founder-inst-4"/>
          <p:cNvSpPr txBox="1"/>
          <p:nvPr/>
        </p:nvSpPr>
        <p:spPr>
          <a:xfrm>
            <a:off x="7397313" y="3703320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UTRECHT UNIVERSITY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INCLUSIVE AI LAB</a:t>
            </a:r>
            <a:endParaRPr lang="en-US" sz="800" dirty="0"/>
          </a:p>
        </p:txBody>
      </p:sp>
      <p:sp>
        <p:nvSpPr>
          <p:cNvPr id="33" name="founder-skills-4"/>
          <p:cNvSpPr txBox="1"/>
          <p:nvPr/>
        </p:nvSpPr>
        <p:spPr>
          <a:xfrm>
            <a:off x="7397313" y="4206240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Inclusive AI, digital inclusion and global perspectives</a:t>
            </a:r>
            <a:endParaRPr lang="en-US" sz="1100" dirty="0"/>
          </a:p>
        </p:txBody>
      </p:sp>
      <p:sp>
        <p:nvSpPr>
          <p:cNvPr id="34" name="founder-rule-4"/>
          <p:cNvSpPr/>
          <p:nvPr/>
        </p:nvSpPr>
        <p:spPr>
          <a:xfrm>
            <a:off x="7397313" y="4892040"/>
            <a:ext cx="1962851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pic>
        <p:nvPicPr>
          <p:cNvPr id="35" name="founder-logo-4" descr="Utrecht University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7313" y="5029200"/>
            <a:ext cx="666496" cy="731520"/>
          </a:xfrm>
          <a:prstGeom prst="rect">
            <a:avLst/>
          </a:prstGeom>
        </p:spPr>
      </p:pic>
      <p:sp>
        <p:nvSpPr>
          <p:cNvPr id="36" name="founder-photo-shadow-5"/>
          <p:cNvSpPr/>
          <p:nvPr/>
        </p:nvSpPr>
        <p:spPr>
          <a:xfrm>
            <a:off x="9744212" y="1847088"/>
            <a:ext cx="1417320" cy="141732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7" name="founder-photo-5" descr="Catherine Régi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0204" y="1783080"/>
            <a:ext cx="1417320" cy="1417320"/>
          </a:xfrm>
          <a:prstGeom prst="rect">
            <a:avLst/>
          </a:prstGeom>
        </p:spPr>
      </p:pic>
      <p:sp>
        <p:nvSpPr>
          <p:cNvPr id="38" name="founder-photo-frame-5"/>
          <p:cNvSpPr/>
          <p:nvPr/>
        </p:nvSpPr>
        <p:spPr>
          <a:xfrm>
            <a:off x="9680204" y="1783080"/>
            <a:ext cx="1417320" cy="1417320"/>
          </a:xfrm>
          <a:prstGeom prst="rect">
            <a:avLst/>
          </a:prstGeom>
          <a:ln w="25400">
            <a:solidFill>
              <a:schemeClr val="tx1"/>
            </a:solidFill>
            <a:prstDash val="solid"/>
          </a:ln>
        </p:spPr>
      </p:sp>
      <p:sp>
        <p:nvSpPr>
          <p:cNvPr id="39" name="founder-name-5"/>
          <p:cNvSpPr txBox="1"/>
          <p:nvPr/>
        </p:nvSpPr>
        <p:spPr>
          <a:xfrm>
            <a:off x="9680204" y="3383280"/>
            <a:ext cx="19628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Catherine Régis</a:t>
            </a:r>
            <a:endParaRPr lang="en-US" sz="1600" dirty="0"/>
          </a:p>
        </p:txBody>
      </p:sp>
      <p:sp>
        <p:nvSpPr>
          <p:cNvPr id="40" name="founder-inst-5"/>
          <p:cNvSpPr txBox="1"/>
          <p:nvPr/>
        </p:nvSpPr>
        <p:spPr>
          <a:xfrm>
            <a:off x="9680204" y="3703320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UNIVERSITÉ DE MONTRÉAL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spc="1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CENTRE DE RECHERCHE EN DROIT PUBLIC</a:t>
            </a:r>
            <a:endParaRPr lang="en-US" sz="800" dirty="0"/>
          </a:p>
        </p:txBody>
      </p:sp>
      <p:sp>
        <p:nvSpPr>
          <p:cNvPr id="41" name="founder-skills-5"/>
          <p:cNvSpPr txBox="1"/>
          <p:nvPr/>
        </p:nvSpPr>
        <p:spPr>
          <a:xfrm>
            <a:off x="9680204" y="4206240"/>
            <a:ext cx="19628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AI regulation, policy and health-AI governance</a:t>
            </a:r>
            <a:endParaRPr lang="en-US" sz="1100" dirty="0"/>
          </a:p>
        </p:txBody>
      </p:sp>
      <p:sp>
        <p:nvSpPr>
          <p:cNvPr id="42" name="founder-rule-5"/>
          <p:cNvSpPr/>
          <p:nvPr/>
        </p:nvSpPr>
        <p:spPr>
          <a:xfrm>
            <a:off x="9680204" y="4892040"/>
            <a:ext cx="1962851" cy="0"/>
          </a:xfrm>
          <a:prstGeom prst="line">
            <a:avLst/>
          </a:prstGeom>
          <a:noFill/>
          <a:ln w="9525">
            <a:solidFill>
              <a:srgbClr val="E6E1DD"/>
            </a:solidFill>
            <a:prstDash val="solid"/>
          </a:ln>
        </p:spPr>
      </p:sp>
      <p:pic>
        <p:nvPicPr>
          <p:cNvPr id="43" name="founder-logo-5" descr="Université de Montréal log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0204" y="502920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FIGURES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Three numbers worth remembering</a:t>
            </a:r>
            <a:endParaRPr lang="en-US" sz="3200" dirty="0"/>
          </a:p>
        </p:txBody>
      </p:sp>
      <p:sp>
        <p:nvSpPr>
          <p:cNvPr id="4" name="stat-card-1-shadow"/>
          <p:cNvSpPr/>
          <p:nvPr/>
        </p:nvSpPr>
        <p:spPr>
          <a:xfrm>
            <a:off x="612648" y="2258568"/>
            <a:ext cx="3372002" cy="2377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stat-card-1"/>
          <p:cNvSpPr/>
          <p:nvPr/>
        </p:nvSpPr>
        <p:spPr>
          <a:xfrm>
            <a:off x="548640" y="2194560"/>
            <a:ext cx="3372002" cy="23774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" name="stat-value-1"/>
          <p:cNvSpPr txBox="1"/>
          <p:nvPr/>
        </p:nvSpPr>
        <p:spPr>
          <a:xfrm>
            <a:off x="868680" y="2468880"/>
            <a:ext cx="2731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chemeClr val="tx1"/>
                </a:solidFill>
              </a:rPr>
              <a:t>12</a:t>
            </a:r>
            <a:endParaRPr lang="en-US" sz="6600" dirty="0"/>
          </a:p>
        </p:txBody>
      </p:sp>
      <p:sp>
        <p:nvSpPr>
          <p:cNvPr id="7" name="stat-label-1"/>
          <p:cNvSpPr txBox="1"/>
          <p:nvPr/>
        </p:nvSpPr>
        <p:spPr>
          <a:xfrm>
            <a:off x="868680" y="3794760"/>
            <a:ext cx="2731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PARTNER INSTITUTIONS</a:t>
            </a:r>
            <a:endParaRPr lang="en-US" sz="1100" dirty="0"/>
          </a:p>
        </p:txBody>
      </p:sp>
      <p:sp>
        <p:nvSpPr>
          <p:cNvPr id="8" name="stat-card-2-shadow"/>
          <p:cNvSpPr/>
          <p:nvPr/>
        </p:nvSpPr>
        <p:spPr>
          <a:xfrm>
            <a:off x="4441850" y="2258568"/>
            <a:ext cx="3372002" cy="2377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tat-card-2"/>
          <p:cNvSpPr/>
          <p:nvPr/>
        </p:nvSpPr>
        <p:spPr>
          <a:xfrm>
            <a:off x="4377842" y="2194560"/>
            <a:ext cx="3372002" cy="23774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stat-value-2"/>
          <p:cNvSpPr txBox="1"/>
          <p:nvPr/>
        </p:nvSpPr>
        <p:spPr>
          <a:xfrm>
            <a:off x="4697882" y="2468880"/>
            <a:ext cx="2731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chemeClr val="tx1"/>
                </a:solidFill>
              </a:rPr>
              <a:t>5</a:t>
            </a:r>
            <a:endParaRPr lang="en-US" sz="6600" dirty="0"/>
          </a:p>
        </p:txBody>
      </p:sp>
      <p:sp>
        <p:nvSpPr>
          <p:cNvPr id="11" name="stat-label-2"/>
          <p:cNvSpPr txBox="1"/>
          <p:nvPr/>
        </p:nvSpPr>
        <p:spPr>
          <a:xfrm>
            <a:off x="4697882" y="3794760"/>
            <a:ext cx="2731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RESEARCH PILLARS</a:t>
            </a:r>
            <a:endParaRPr lang="en-US" sz="1100" dirty="0"/>
          </a:p>
        </p:txBody>
      </p:sp>
      <p:sp>
        <p:nvSpPr>
          <p:cNvPr id="12" name="stat-card-3-shadow"/>
          <p:cNvSpPr/>
          <p:nvPr/>
        </p:nvSpPr>
        <p:spPr>
          <a:xfrm>
            <a:off x="8271053" y="2258568"/>
            <a:ext cx="3372002" cy="2377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stat-card-3"/>
          <p:cNvSpPr/>
          <p:nvPr/>
        </p:nvSpPr>
        <p:spPr>
          <a:xfrm>
            <a:off x="8207045" y="2194560"/>
            <a:ext cx="3372002" cy="23774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stat-value-3"/>
          <p:cNvSpPr txBox="1"/>
          <p:nvPr/>
        </p:nvSpPr>
        <p:spPr>
          <a:xfrm>
            <a:off x="8527085" y="2468880"/>
            <a:ext cx="2731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chemeClr val="tx1"/>
                </a:solidFill>
              </a:rPr>
              <a:t>30+</a:t>
            </a:r>
            <a:endParaRPr lang="en-US" sz="6600" dirty="0"/>
          </a:p>
        </p:txBody>
      </p:sp>
      <p:sp>
        <p:nvSpPr>
          <p:cNvPr id="15" name="stat-label-3"/>
          <p:cNvSpPr txBox="1"/>
          <p:nvPr/>
        </p:nvSpPr>
        <p:spPr>
          <a:xfrm>
            <a:off x="8527085" y="3794760"/>
            <a:ext cx="2731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EVENTS PLANNED FOR 2027</a:t>
            </a:r>
            <a:endParaRPr lang="en-US" sz="1100" dirty="0"/>
          </a:p>
        </p:txBody>
      </p:sp>
      <p:sp>
        <p:nvSpPr>
          <p:cNvPr id="16" name="stat-note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Placeholder figures, replace with real ones.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601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chemeClr val="tx1"/>
                </a:solidFill>
              </a:rPr>
              <a:t>Native charts in the site palette</a:t>
            </a:r>
            <a:endParaRPr lang="en-US" sz="3200" dirty="0"/>
          </a:p>
        </p:txBody>
      </p:sp>
      <p:graphicFrame>
        <p:nvGraphicFramePr>
          <p:cNvPr id="4" name="example-chart" descr=""/>
          <p:cNvGraphicFramePr/>
          <p:nvPr/>
        </p:nvGraphicFramePr>
        <p:xfrm>
          <a:off x="548640" y="18288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6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8346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spc="-150" kern="0" dirty="0">
                <a:solidFill>
                  <a:schemeClr val="bg2"/>
                </a:solidFill>
              </a:rPr>
              <a:t>THANK YOU.</a:t>
            </a:r>
            <a:endParaRPr lang="en-US" sz="5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4114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name.surname@example.org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trust-ai.example.org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6E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-AI">
  <a:themeElements>
    <a:clrScheme name="TRUST-AI">
      <a:dk1>
        <a:srgbClr val="262628"/>
      </a:dk1>
      <a:lt1>
        <a:srgbClr val="FFFFFF"/>
      </a:lt1>
      <a:dk2>
        <a:srgbClr val="6B6668"/>
      </a:dk2>
      <a:lt2>
        <a:srgbClr val="FFF6EF"/>
      </a:lt2>
      <a:accent1>
        <a:srgbClr val="C7C3F2"/>
      </a:accent1>
      <a:accent2>
        <a:srgbClr val="D86072"/>
      </a:accent2>
      <a:accent3>
        <a:srgbClr val="D6DC82"/>
      </a:accent3>
      <a:accent4>
        <a:srgbClr val="5B54B0"/>
      </a:accent4>
      <a:accent5>
        <a:srgbClr val="F7EBE1"/>
      </a:accent5>
      <a:accent6>
        <a:srgbClr val="8E89D6"/>
      </a:accent6>
      <a:hlink>
        <a:srgbClr val="5B54B0"/>
      </a:hlink>
      <a:folHlink>
        <a:srgbClr val="D86072"/>
      </a:folHlink>
    </a:clrScheme>
    <a:fontScheme name="TRUST-AI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TRUST-AI presentation template</dc:title>
  <dc:subject>PptxGenJS Presentation</dc:subject>
  <dc:creator>TRUST-AI</dc:creator>
  <cp:lastModifiedBy>TRUST-AI</cp:lastModifiedBy>
  <cp:revision>1</cp:revision>
  <dcterms:created xsi:type="dcterms:W3CDTF">2026-10-27T08:47:42Z</dcterms:created>
  <dcterms:modified xsi:type="dcterms:W3CDTF">2026-10-27T08:47:42Z</dcterms:modified>
</cp:coreProperties>
</file>